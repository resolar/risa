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9A35329-CB12-4DB3-A5C1-ADBE615336D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开场先澄清命名：论文题目缩写是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RIAS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，指任务范式；作者提出的具体基线模型叫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DQFormer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。今天先讲视觉语言与工业异常检测的汇合趋势，再精读论文，最后落到一个可操作的研究题目。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C8C6748-2E95-41C4-B742-60CB5ECF15A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先把结论讲清楚。视觉语言与工业异常检测的交叉点，既有明确的掩码指标，也有开放词汇和自然语言的新问题。真正有论文价值的不是再叠一个模块，而是证明模型在未见缺陷、复杂表达、小目标或无目标请求上存在稳定失败，并解决其中一个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4788546-FEA3-488C-9287-DD29A0532EE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这张图用四个阶段串起背景。传统工业异常检测输出分数和粗热力图；随后是统一多类别模型；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RIAS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把任务推进到按文本指代输出掩码。但真正的开放集还要求严格留出未见缺陷，并在文本与图像不匹配时拒答。这恰好是后续研究空间。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18E12A7-2F02-4DD9-B1D1-8D2F6543E10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视觉语言侧我只保留四个与课题直接相关的问题。第一是复杂语言下的空间定位；第二是文字诱导的幻觉，尤其目标不存在时是否仍画掩码；第三是开放词汇和少样本适配；第四是低算力路线。对工业缺陷而言，前两项最关键，因为小目标和错误报警都会直接影响质检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85A1DA1-3BFB-4D0F-9311-4F4E495D81B7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工业异常方向不是五条互相独立的路线，而是在汇合。提示学习解决类别扩展，语言引导解决可交互定位，统一模型增加解释能力，轻量适配控制成本，真实数据与多视角推动落地。它们最后都撞上同一组瓶颈：小缺陷、未见类别、文本稳健性、拒答和跨域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644308C-62B6-4F0F-8906-A370B76E3C8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RIAS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核心变化是输入不再只有图像，还加入自然语言描述。输出也不只是异常分数，而是文本对应的像素掩码和一个无异常标识。这样既能用通用提示找任意异常，也能指定‘木板左侧的结疤’这类更细的目标。注意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RIAS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是任务，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DQFormer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才是作者模型。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2CBD796-A020-4392-B4B3-9E451E6DEC2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MVTec-Ref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建立在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MVTec-AD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的图像与像素标注上，共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2110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个三元组，划分为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1224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384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502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。表达包括类别属性、空间关系和通用提示。数据的核心难点是小目标和长尾：附录说超过九成掩码面积小于图像的百分之十。正文不同位置写了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90%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95%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，所以报告中用更稳妥的‘超过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90%’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1515F7-07B0-4E9D-9AAC-426B5022B1A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整套模型可以分成四步。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Swin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提取四阶段视觉特征；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LMA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在每一层做局部多尺度增强和跨模态融合；解码器只保留异常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与背景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两个查询；最后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产生掩码，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产生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no-anomaly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标识。论文的两个真正方法点是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LMA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和双查询交互。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568A698-573A-424A-999D-2500AC07936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LMA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解决的是小缺陷容易在深层语义中消失的问题，用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三种邻域平均池化增强局部多尺度，再与语言交叉注意力并门控回注。双查询的直觉是工业图像主要只有异常和背景，不需要很多对象查询；同时只允许异常查询读取文本，避免背景查询被描述污染。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9E9DF00-B318-40E0-A5EE-A1E00D0E3C0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主表显示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DQFormer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在测试集达到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67.90 mIoU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77.65 gIoU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。直接减去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CGFormer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63.40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73.49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，应该是加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4.50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4.16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。但摘要、引言和实验正文分别写了不同的提升数字。这不改变排名，却说明报告时必须引用表格原值，并在复现中核对评测脚本。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8A79FCA-5780-40EB-BCDF-0D4B042F8C4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这页要防止过度解读。论文证明了在自建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MVTec-Ref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划分上的统一文本分割能力和模块有效性；但没有严格证明未见缺陷、复杂否定语言、跨数据集泛化。传统异常检测比较中，作者图像级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AUC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最好，但像素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AUC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低于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UniAD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。并且截至今天官方仓库只有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coming soon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，复现仍受限。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9367E0-105A-4D6F-9A26-189C20535D8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我建议把题目收窄为可靠文本条件异常分割。可靠包含五个维度：测试缺陷类型没在训练见过；文本包含属性空间否定和同义改写；按小目标面积分桶；描述不匹配时拒答；最后做跨域。方法上可以先验证正常参考图像、局部全局一致性和提示一致性是否有效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0A4CACE-621B-4B6C-BC66-5B7389506FF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实验顺序很重要。第一步不是直接发明模块，而是复核划分和脚本。第二步建立语言与小目标压力测试。第三步严格定义未见缺陷和未见产品，避免把‘测试图没见过’误称为开放集。只有找到稳定失败后，才做一个针对性方法，并用消融、速度和跨域结果支撑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807F762-03B9-4209-AF7B-22509353CFC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最后总结三点。交叉方向适合做；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RIAS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是很好的起点但不是终点；下一步应从可靠性评测切入。组会上希望重点讨论两个优先级：先做复杂语言和拒答，还是先做未见类别泛化。两者都做会太大，最好先选一个。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7469430-501D-40F7-9DC4-DA1F8F442A1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这页是备份阅读清单。不是论文质量排名，而是围绕问题选材料。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RIAS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先建立任务认知；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GenAU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看统一理解；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Ref-Adv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等看复杂语言评测；再根据具体方法路线补提示学习、轻量适配和真实场景数据。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6EBE1BB-7406-4079-BDBA-DF31751C962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备份定量细节。消融显示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masked self-attention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dual query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LMA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都有效，其中最终平均池化版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LMA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带来最大增益。传统异常检测比较则提醒我们：语言指代任务上的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mIoU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优势，不应直接解释成像素异常定位全面领先，因为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UniAD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Pixel-AUC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更高。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AD89E9E-D7ED-4500-9A5B-F1D48244693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37250C-AA87-4AF5-8ACA-9624F19092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B30C54-4634-4242-A30E-82E1984983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F33F00-4C23-433A-AB73-9B1B6D1463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038264B-4F47-4DD3-B467-B9A509E9F7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ED97E4-61BE-4C4B-8EA2-0AA3BD47D6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1E73A1-0287-430F-AA67-070A75A51D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DF5F49-0583-4856-9D32-8FED0EA993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9EFCB9C-AA80-454D-BDDE-0FED6A924A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191B8D-63D9-40D1-B91A-A8443C467C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5B47E13-EAFB-433E-A497-8A7FC9D0692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4ACECD-DA6C-423D-BAA6-4AF6544E31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ounded Rectangle 1"/>
          <p:cNvSpPr/>
          <p:nvPr/>
        </p:nvSpPr>
        <p:spPr>
          <a:xfrm>
            <a:off x="7242120" y="438840"/>
            <a:ext cx="4370400" cy="580608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Rounded Rectangle 2"/>
          <p:cNvSpPr/>
          <p:nvPr/>
        </p:nvSpPr>
        <p:spPr>
          <a:xfrm>
            <a:off x="7635240" y="1143000"/>
            <a:ext cx="1325520" cy="676440"/>
          </a:xfrm>
          <a:prstGeom prst="roundRect">
            <a:avLst>
              <a:gd name="adj" fmla="val 16667"/>
            </a:avLst>
          </a:prstGeom>
          <a:solidFill>
            <a:srgbClr val="25C2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7635240" y="131688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1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IMAGE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4"/>
          <p:cNvSpPr/>
          <p:nvPr/>
        </p:nvSpPr>
        <p:spPr>
          <a:xfrm>
            <a:off x="9464040" y="1143000"/>
            <a:ext cx="1325520" cy="67644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9464040" y="131688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1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TEXT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6"/>
          <p:cNvSpPr/>
          <p:nvPr/>
        </p:nvSpPr>
        <p:spPr>
          <a:xfrm>
            <a:off x="8549640" y="2880360"/>
            <a:ext cx="1325520" cy="676440"/>
          </a:xfrm>
          <a:prstGeom prst="roundRect">
            <a:avLst>
              <a:gd name="adj" fmla="val 16667"/>
            </a:avLst>
          </a:prstGeom>
          <a:solidFill>
            <a:srgbClr val="FF9A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8549640" y="305424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1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GROUND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Rounded Rectangle 8"/>
          <p:cNvSpPr/>
          <p:nvPr/>
        </p:nvSpPr>
        <p:spPr>
          <a:xfrm>
            <a:off x="8549640" y="4681800"/>
            <a:ext cx="1325520" cy="676440"/>
          </a:xfrm>
          <a:prstGeom prst="roundRect">
            <a:avLst>
              <a:gd name="adj" fmla="val 16667"/>
            </a:avLst>
          </a:prstGeom>
          <a:solidFill>
            <a:srgbClr val="42D6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8549640" y="485532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1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MASK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6" name="Connector 10"/>
          <p:cNvCxnSpPr/>
          <p:nvPr/>
        </p:nvCxnSpPr>
        <p:spPr>
          <a:xfrm>
            <a:off x="8961120" y="1819440"/>
            <a:ext cx="201240" cy="1061280"/>
          </a:xfrm>
          <a:prstGeom prst="straightConnector1">
            <a:avLst/>
          </a:prstGeom>
          <a:ln w="19050">
            <a:solidFill>
              <a:srgbClr val="AAB7C7"/>
            </a:solidFill>
            <a:round/>
          </a:ln>
        </p:spPr>
      </p:cxnSp>
      <p:cxnSp>
        <p:nvCxnSpPr>
          <p:cNvPr id="77" name="Connector 11"/>
          <p:cNvCxnSpPr/>
          <p:nvPr/>
        </p:nvCxnSpPr>
        <p:spPr>
          <a:xfrm flipH="1">
            <a:off x="9326880" y="1819440"/>
            <a:ext cx="777600" cy="1061280"/>
          </a:xfrm>
          <a:prstGeom prst="straightConnector1">
            <a:avLst/>
          </a:prstGeom>
          <a:ln w="19050">
            <a:solidFill>
              <a:srgbClr val="AAB7C7"/>
            </a:solidFill>
            <a:round/>
          </a:ln>
        </p:spPr>
      </p:cxnSp>
      <p:cxnSp>
        <p:nvCxnSpPr>
          <p:cNvPr id="78" name="Connector 12"/>
          <p:cNvCxnSpPr/>
          <p:nvPr/>
        </p:nvCxnSpPr>
        <p:spPr>
          <a:xfrm>
            <a:off x="9217080" y="3556800"/>
            <a:ext cx="360" cy="1125000"/>
          </a:xfrm>
          <a:prstGeom prst="straightConnector1">
            <a:avLst/>
          </a:prstGeom>
          <a:ln w="19050">
            <a:solidFill>
              <a:srgbClr val="AAB7C7"/>
            </a:solidFill>
            <a:round/>
          </a:ln>
        </p:spPr>
      </p:cxnSp>
      <p:sp>
        <p:nvSpPr>
          <p:cNvPr id="79" name="Oval 13"/>
          <p:cNvSpPr/>
          <p:nvPr/>
        </p:nvSpPr>
        <p:spPr>
          <a:xfrm>
            <a:off x="7790760" y="5029200"/>
            <a:ext cx="82080" cy="82080"/>
          </a:xfrm>
          <a:prstGeom prst="ellipse">
            <a:avLst/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3320" rIns="90000" bIns="1332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Oval 14"/>
          <p:cNvSpPr/>
          <p:nvPr/>
        </p:nvSpPr>
        <p:spPr>
          <a:xfrm>
            <a:off x="8010000" y="5230440"/>
            <a:ext cx="54360" cy="54360"/>
          </a:xfrm>
          <a:prstGeom prst="ellipse">
            <a:avLst/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480" rIns="90000" bIns="-64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Oval 15"/>
          <p:cNvSpPr/>
          <p:nvPr/>
        </p:nvSpPr>
        <p:spPr>
          <a:xfrm>
            <a:off x="10469880" y="4983480"/>
            <a:ext cx="118440" cy="118440"/>
          </a:xfrm>
          <a:prstGeom prst="ellipse">
            <a:avLst/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38880" rIns="90000" bIns="3888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Oval 16"/>
          <p:cNvSpPr/>
          <p:nvPr/>
        </p:nvSpPr>
        <p:spPr>
          <a:xfrm>
            <a:off x="10744200" y="5376600"/>
            <a:ext cx="63720" cy="63720"/>
          </a:xfrm>
          <a:prstGeom prst="ellipse">
            <a:avLst/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0" rIns="90000" bIns="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17"/>
          <p:cNvSpPr/>
          <p:nvPr/>
        </p:nvSpPr>
        <p:spPr>
          <a:xfrm>
            <a:off x="658440" y="1097280"/>
            <a:ext cx="60804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30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从视觉语言定位到</a:t>
            </a:r>
            <a:br>
              <a:rPr sz="1800"/>
            </a:br>
            <a:r>
              <a:rPr lang="zh-CN" sz="30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工业异常分割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8"/>
          <p:cNvSpPr/>
          <p:nvPr/>
        </p:nvSpPr>
        <p:spPr>
          <a:xfrm>
            <a:off x="685800" y="2761560"/>
            <a:ext cx="58518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9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2026 </a:t>
            </a:r>
            <a:r>
              <a:rPr lang="zh-CN" sz="19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研究趋势与 </a:t>
            </a:r>
            <a:r>
              <a:rPr lang="en-US" sz="19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RIAS </a:t>
            </a:r>
            <a:r>
              <a:rPr lang="zh-CN" sz="19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论文精读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9"/>
          <p:cNvSpPr/>
          <p:nvPr/>
        </p:nvSpPr>
        <p:spPr>
          <a:xfrm>
            <a:off x="685800" y="3401640"/>
            <a:ext cx="530316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5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Referring Industrial Anomaly Segmentation</a:t>
            </a:r>
            <a:br>
              <a:rPr sz="1800"/>
            </a:br>
            <a:r>
              <a:rPr lang="en-US" sz="15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15 </a:t>
            </a:r>
            <a:r>
              <a:rPr lang="zh-CN" sz="15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分钟组会报告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20"/>
          <p:cNvSpPr/>
          <p:nvPr/>
        </p:nvSpPr>
        <p:spPr>
          <a:xfrm>
            <a:off x="685800" y="4800600"/>
            <a:ext cx="1234080" cy="310680"/>
          </a:xfrm>
          <a:prstGeom prst="roundRect">
            <a:avLst>
              <a:gd name="adj" fmla="val 16667"/>
            </a:avLst>
          </a:prstGeom>
          <a:solidFill>
            <a:srgbClr val="25C2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21"/>
          <p:cNvSpPr/>
          <p:nvPr/>
        </p:nvSpPr>
        <p:spPr>
          <a:xfrm>
            <a:off x="704160" y="4814280"/>
            <a:ext cx="1197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ctr">
            <a:spAutoFit/>
          </a:bodyPr>
          <a:p>
            <a:pPr algn="ctr" defTabSz="457200">
              <a:lnSpc>
                <a:spcPct val="108000"/>
              </a:lnSpc>
            </a:pPr>
            <a:r>
              <a:rPr lang="zh-CN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任务：</a:t>
            </a:r>
            <a:r>
              <a:rPr lang="en-US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RIAS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22"/>
          <p:cNvSpPr/>
          <p:nvPr/>
        </p:nvSpPr>
        <p:spPr>
          <a:xfrm>
            <a:off x="2057400" y="4800600"/>
            <a:ext cx="1572480" cy="310680"/>
          </a:xfrm>
          <a:prstGeom prst="roundRect">
            <a:avLst>
              <a:gd name="adj" fmla="val 16667"/>
            </a:avLst>
          </a:prstGeom>
          <a:solidFill>
            <a:srgbClr val="FF9A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23"/>
          <p:cNvSpPr/>
          <p:nvPr/>
        </p:nvSpPr>
        <p:spPr>
          <a:xfrm>
            <a:off x="2075760" y="4814280"/>
            <a:ext cx="1535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ctr">
            <a:spAutoFit/>
          </a:bodyPr>
          <a:p>
            <a:pPr algn="ctr" defTabSz="457200">
              <a:lnSpc>
                <a:spcPct val="108000"/>
              </a:lnSpc>
            </a:pPr>
            <a:r>
              <a:rPr lang="zh-CN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模型：</a:t>
            </a:r>
            <a:r>
              <a:rPr lang="en-US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DQFormer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24"/>
          <p:cNvSpPr/>
          <p:nvPr/>
        </p:nvSpPr>
        <p:spPr>
          <a:xfrm>
            <a:off x="3767400" y="4800600"/>
            <a:ext cx="1691280" cy="310680"/>
          </a:xfrm>
          <a:prstGeom prst="roundRect">
            <a:avLst>
              <a:gd name="adj" fmla="val 16667"/>
            </a:avLst>
          </a:prstGeom>
          <a:solidFill>
            <a:srgbClr val="42D6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25"/>
          <p:cNvSpPr/>
          <p:nvPr/>
        </p:nvSpPr>
        <p:spPr>
          <a:xfrm>
            <a:off x="3785760" y="4814280"/>
            <a:ext cx="1654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ctr">
            <a:spAutoFit/>
          </a:bodyPr>
          <a:p>
            <a:pPr algn="ctr" defTabSz="457200">
              <a:lnSpc>
                <a:spcPct val="108000"/>
              </a:lnSpc>
            </a:pPr>
            <a:r>
              <a:rPr lang="zh-CN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数据：</a:t>
            </a:r>
            <a:r>
              <a:rPr lang="en-US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MVTec-Ref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26"/>
          <p:cNvSpPr/>
          <p:nvPr/>
        </p:nvSpPr>
        <p:spPr>
          <a:xfrm>
            <a:off x="685800" y="605340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0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2026.10 · </a:t>
            </a:r>
            <a:r>
              <a:rPr lang="zh-CN" sz="10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组会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502920" y="2559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EXECUTIVE TAKEAWAYS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502920" y="53028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先给结论：交叉方向最值得做，但要从“可靠性”切入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11201400" y="320040"/>
            <a:ext cx="456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02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6" name="Connector 4"/>
          <p:cNvCxnSpPr/>
          <p:nvPr/>
        </p:nvCxnSpPr>
        <p:spPr>
          <a:xfrm>
            <a:off x="502920" y="1115280"/>
            <a:ext cx="11183400" cy="360"/>
          </a:xfrm>
          <a:prstGeom prst="straightConnector1">
            <a:avLst/>
          </a:prstGeom>
          <a:ln w="12700">
            <a:solidFill>
              <a:srgbClr val="2C405F"/>
            </a:solidFill>
            <a:round/>
          </a:ln>
        </p:spPr>
      </p:cxnSp>
      <p:sp>
        <p:nvSpPr>
          <p:cNvPr id="97" name="Rounded Rectangle 5"/>
          <p:cNvSpPr/>
          <p:nvPr/>
        </p:nvSpPr>
        <p:spPr>
          <a:xfrm>
            <a:off x="567000" y="1481400"/>
            <a:ext cx="3401280" cy="340128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ounded Rectangle 6"/>
          <p:cNvSpPr/>
          <p:nvPr/>
        </p:nvSpPr>
        <p:spPr>
          <a:xfrm>
            <a:off x="795600" y="1737360"/>
            <a:ext cx="676440" cy="310680"/>
          </a:xfrm>
          <a:prstGeom prst="roundRect">
            <a:avLst>
              <a:gd name="adj" fmla="val 16667"/>
            </a:avLst>
          </a:prstGeom>
          <a:solidFill>
            <a:srgbClr val="25C2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7"/>
          <p:cNvSpPr/>
          <p:nvPr/>
        </p:nvSpPr>
        <p:spPr>
          <a:xfrm>
            <a:off x="813960" y="175104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ctr">
            <a:spAutoFit/>
          </a:bodyPr>
          <a:p>
            <a:pPr algn="ctr" defTabSz="457200">
              <a:lnSpc>
                <a:spcPct val="108000"/>
              </a:lnSpc>
            </a:pPr>
            <a:r>
              <a:rPr lang="zh-CN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趋势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8"/>
          <p:cNvSpPr/>
          <p:nvPr/>
        </p:nvSpPr>
        <p:spPr>
          <a:xfrm>
            <a:off x="795600" y="2240280"/>
            <a:ext cx="2880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9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从“识别类别”走向</a:t>
            </a:r>
            <a:br>
              <a:rPr sz="1800"/>
            </a:br>
            <a:r>
              <a:rPr lang="zh-CN" sz="19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有证据的定位 </a:t>
            </a:r>
            <a:r>
              <a:rPr lang="en-US" sz="19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+ </a:t>
            </a:r>
            <a:r>
              <a:rPr lang="zh-CN" sz="19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拒答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9"/>
          <p:cNvSpPr/>
          <p:nvPr/>
        </p:nvSpPr>
        <p:spPr>
          <a:xfrm>
            <a:off x="795600" y="3246120"/>
            <a:ext cx="28800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视觉语言的关键不再是说得长，而是定位准、目标不存在时不乱画。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3264480" y="4279320"/>
            <a:ext cx="39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r" defTabSz="457200">
              <a:lnSpc>
                <a:spcPct val="108000"/>
              </a:lnSpc>
            </a:pPr>
            <a:r>
              <a:rPr lang="en-US" sz="11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01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11"/>
          <p:cNvSpPr/>
          <p:nvPr/>
        </p:nvSpPr>
        <p:spPr>
          <a:xfrm>
            <a:off x="4361760" y="1481400"/>
            <a:ext cx="3401280" cy="340128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ounded Rectangle 12"/>
          <p:cNvSpPr/>
          <p:nvPr/>
        </p:nvSpPr>
        <p:spPr>
          <a:xfrm>
            <a:off x="4590360" y="1737360"/>
            <a:ext cx="676440" cy="310680"/>
          </a:xfrm>
          <a:prstGeom prst="roundRect">
            <a:avLst>
              <a:gd name="adj" fmla="val 16667"/>
            </a:avLst>
          </a:prstGeom>
          <a:solidFill>
            <a:srgbClr val="FF9A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13"/>
          <p:cNvSpPr/>
          <p:nvPr/>
        </p:nvSpPr>
        <p:spPr>
          <a:xfrm>
            <a:off x="4608720" y="175104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ctr">
            <a:spAutoFit/>
          </a:bodyPr>
          <a:p>
            <a:pPr algn="ctr" defTabSz="457200">
              <a:lnSpc>
                <a:spcPct val="108000"/>
              </a:lnSpc>
            </a:pPr>
            <a:r>
              <a:rPr lang="zh-CN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论文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4"/>
          <p:cNvSpPr/>
          <p:nvPr/>
        </p:nvSpPr>
        <p:spPr>
          <a:xfrm>
            <a:off x="4590360" y="2240280"/>
            <a:ext cx="2880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9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RIAS </a:t>
            </a:r>
            <a:r>
              <a:rPr lang="zh-CN" sz="19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首次把自然语言</a:t>
            </a:r>
            <a:br>
              <a:rPr sz="1800"/>
            </a:br>
            <a:r>
              <a:rPr lang="zh-CN" sz="19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接入工业异常精细分割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15"/>
          <p:cNvSpPr/>
          <p:nvPr/>
        </p:nvSpPr>
        <p:spPr>
          <a:xfrm>
            <a:off x="4590360" y="3246120"/>
            <a:ext cx="28800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贡献是任务、数据集与基线三件套；并不等于已证明真正开放集泛化。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16"/>
          <p:cNvSpPr/>
          <p:nvPr/>
        </p:nvSpPr>
        <p:spPr>
          <a:xfrm>
            <a:off x="7059240" y="4279320"/>
            <a:ext cx="39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r" defTabSz="457200">
              <a:lnSpc>
                <a:spcPct val="108000"/>
              </a:lnSpc>
            </a:pPr>
            <a:r>
              <a:rPr lang="en-US" sz="11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02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ounded Rectangle 17"/>
          <p:cNvSpPr/>
          <p:nvPr/>
        </p:nvSpPr>
        <p:spPr>
          <a:xfrm>
            <a:off x="8156520" y="1481400"/>
            <a:ext cx="3401280" cy="340128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Rounded Rectangle 18"/>
          <p:cNvSpPr/>
          <p:nvPr/>
        </p:nvSpPr>
        <p:spPr>
          <a:xfrm>
            <a:off x="8385120" y="1737360"/>
            <a:ext cx="676440" cy="310680"/>
          </a:xfrm>
          <a:prstGeom prst="roundRect">
            <a:avLst>
              <a:gd name="adj" fmla="val 16667"/>
            </a:avLst>
          </a:prstGeom>
          <a:solidFill>
            <a:srgbClr val="42D6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TextBox 19"/>
          <p:cNvSpPr/>
          <p:nvPr/>
        </p:nvSpPr>
        <p:spPr>
          <a:xfrm>
            <a:off x="8403480" y="175104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ctr">
            <a:spAutoFit/>
          </a:bodyPr>
          <a:p>
            <a:pPr algn="ctr" defTabSz="457200">
              <a:lnSpc>
                <a:spcPct val="108000"/>
              </a:lnSpc>
            </a:pPr>
            <a:r>
              <a:rPr lang="zh-CN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选题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20"/>
          <p:cNvSpPr/>
          <p:nvPr/>
        </p:nvSpPr>
        <p:spPr>
          <a:xfrm>
            <a:off x="8385120" y="2240280"/>
            <a:ext cx="288000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9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未见缺陷 </a:t>
            </a:r>
            <a:r>
              <a:rPr lang="en-US" sz="19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× </a:t>
            </a:r>
            <a:r>
              <a:rPr lang="zh-CN" sz="19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复杂文本 </a:t>
            </a:r>
            <a:r>
              <a:rPr lang="en-US" sz="19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×</a:t>
            </a:r>
            <a:br>
              <a:rPr sz="1800"/>
            </a:br>
            <a:r>
              <a:rPr lang="zh-CN" sz="19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小目标 </a:t>
            </a:r>
            <a:r>
              <a:rPr lang="en-US" sz="19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× no-target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21"/>
          <p:cNvSpPr/>
          <p:nvPr/>
        </p:nvSpPr>
        <p:spPr>
          <a:xfrm>
            <a:off x="8385120" y="3246120"/>
            <a:ext cx="28800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先构造可靠评测，再针对一个稳定失败模式改方法，范围适合研一推进。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22"/>
          <p:cNvSpPr/>
          <p:nvPr/>
        </p:nvSpPr>
        <p:spPr>
          <a:xfrm>
            <a:off x="10854000" y="4279320"/>
            <a:ext cx="392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r" defTabSz="457200">
              <a:lnSpc>
                <a:spcPct val="108000"/>
              </a:lnSpc>
            </a:pPr>
            <a:r>
              <a:rPr lang="en-US" sz="1100" b="1" u="none" strike="noStrike">
                <a:solidFill>
                  <a:srgbClr val="42D6A4"/>
                </a:solidFill>
                <a:effectLst/>
                <a:uFillTx/>
                <a:latin typeface="Noto Sans CJK SC"/>
              </a:rPr>
              <a:t>03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Rounded Rectangle 23"/>
          <p:cNvSpPr/>
          <p:nvPr/>
        </p:nvSpPr>
        <p:spPr>
          <a:xfrm>
            <a:off x="567000" y="5230440"/>
            <a:ext cx="11045520" cy="712800"/>
          </a:xfrm>
          <a:prstGeom prst="roundRect">
            <a:avLst>
              <a:gd name="adj" fmla="val 16667"/>
            </a:avLst>
          </a:prstGeom>
          <a:solidFill>
            <a:srgbClr val="101B2D"/>
          </a:solidFill>
          <a:ln w="12700">
            <a:solidFill>
              <a:srgbClr val="25C2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24"/>
          <p:cNvSpPr/>
          <p:nvPr/>
        </p:nvSpPr>
        <p:spPr>
          <a:xfrm>
            <a:off x="804600" y="5440680"/>
            <a:ext cx="1096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2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一句话主线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25"/>
          <p:cNvSpPr/>
          <p:nvPr/>
        </p:nvSpPr>
        <p:spPr>
          <a:xfrm>
            <a:off x="1920240" y="5376600"/>
            <a:ext cx="9235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7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用工业异常检测定义清晰任务，用视觉语言提供开放描述能力，用可靠性评测证明模型真的“看见”了。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26"/>
          <p:cNvSpPr/>
          <p:nvPr/>
        </p:nvSpPr>
        <p:spPr>
          <a:xfrm>
            <a:off x="502920" y="6546960"/>
            <a:ext cx="10698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依据：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RIAS 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原文 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+ 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用户提供的 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2026 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文献检索对话（截至 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2026-10-16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）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Box 1"/>
          <p:cNvSpPr/>
          <p:nvPr/>
        </p:nvSpPr>
        <p:spPr>
          <a:xfrm>
            <a:off x="502920" y="2559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FIELD SHIFT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502920" y="53028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研究主线：从异常分数，走向语言条件下的可靠分割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11201400" y="320040"/>
            <a:ext cx="456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03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22" name="Connector 4"/>
          <p:cNvCxnSpPr/>
          <p:nvPr/>
        </p:nvCxnSpPr>
        <p:spPr>
          <a:xfrm>
            <a:off x="502920" y="1115280"/>
            <a:ext cx="11183400" cy="360"/>
          </a:xfrm>
          <a:prstGeom prst="straightConnector1">
            <a:avLst/>
          </a:prstGeom>
          <a:ln w="12700">
            <a:solidFill>
              <a:srgbClr val="2C405F"/>
            </a:solidFill>
            <a:round/>
          </a:ln>
        </p:spPr>
      </p:cxnSp>
      <p:sp>
        <p:nvSpPr>
          <p:cNvPr id="123" name="Rounded Rectangle 5"/>
          <p:cNvSpPr/>
          <p:nvPr/>
        </p:nvSpPr>
        <p:spPr>
          <a:xfrm>
            <a:off x="640080" y="1828800"/>
            <a:ext cx="2404440" cy="223992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Rounded Rectangle 6"/>
          <p:cNvSpPr/>
          <p:nvPr/>
        </p:nvSpPr>
        <p:spPr>
          <a:xfrm>
            <a:off x="822960" y="2057400"/>
            <a:ext cx="502560" cy="502560"/>
          </a:xfrm>
          <a:prstGeom prst="roundRect">
            <a:avLst>
              <a:gd name="adj" fmla="val 16667"/>
            </a:avLst>
          </a:prstGeom>
          <a:solidFill>
            <a:srgbClr val="61708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7"/>
          <p:cNvSpPr/>
          <p:nvPr/>
        </p:nvSpPr>
        <p:spPr>
          <a:xfrm>
            <a:off x="822960" y="216720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2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8"/>
          <p:cNvSpPr/>
          <p:nvPr/>
        </p:nvSpPr>
        <p:spPr>
          <a:xfrm>
            <a:off x="822960" y="2697480"/>
            <a:ext cx="1919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8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异常分数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9"/>
          <p:cNvSpPr/>
          <p:nvPr/>
        </p:nvSpPr>
        <p:spPr>
          <a:xfrm>
            <a:off x="822960" y="3127320"/>
            <a:ext cx="1901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正常数据建模</a:t>
            </a:r>
            <a:br>
              <a:rPr sz="1800"/>
            </a:br>
            <a:r>
              <a:rPr lang="zh-CN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热力图 </a:t>
            </a:r>
            <a:r>
              <a:rPr lang="en-US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+ </a:t>
            </a:r>
            <a:r>
              <a:rPr lang="zh-CN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手工阈值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28" name="Connector 10"/>
          <p:cNvCxnSpPr/>
          <p:nvPr/>
        </p:nvCxnSpPr>
        <p:spPr>
          <a:xfrm>
            <a:off x="3090600" y="2926080"/>
            <a:ext cx="338760" cy="360"/>
          </a:xfrm>
          <a:prstGeom prst="straightConnector1">
            <a:avLst/>
          </a:prstGeom>
          <a:ln>
            <a:solidFill>
              <a:srgbClr val="25C2D9"/>
            </a:solidFill>
            <a:round/>
          </a:ln>
        </p:spPr>
      </p:cxnSp>
      <p:sp>
        <p:nvSpPr>
          <p:cNvPr id="129" name="Rounded Rectangle 11"/>
          <p:cNvSpPr/>
          <p:nvPr/>
        </p:nvSpPr>
        <p:spPr>
          <a:xfrm>
            <a:off x="3502080" y="1828800"/>
            <a:ext cx="2404440" cy="223992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Rounded Rectangle 12"/>
          <p:cNvSpPr/>
          <p:nvPr/>
        </p:nvSpPr>
        <p:spPr>
          <a:xfrm>
            <a:off x="3684960" y="2057400"/>
            <a:ext cx="502560" cy="50256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13"/>
          <p:cNvSpPr/>
          <p:nvPr/>
        </p:nvSpPr>
        <p:spPr>
          <a:xfrm>
            <a:off x="3684960" y="216720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2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14"/>
          <p:cNvSpPr/>
          <p:nvPr/>
        </p:nvSpPr>
        <p:spPr>
          <a:xfrm>
            <a:off x="3684960" y="2697480"/>
            <a:ext cx="1919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8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统一多类别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15"/>
          <p:cNvSpPr/>
          <p:nvPr/>
        </p:nvSpPr>
        <p:spPr>
          <a:xfrm>
            <a:off x="3684960" y="3127320"/>
            <a:ext cx="1901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一个模型覆盖多产品</a:t>
            </a:r>
            <a:br>
              <a:rPr sz="1800"/>
            </a:br>
            <a:r>
              <a:rPr lang="zh-CN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仍以二元异常为主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34" name="Connector 16"/>
          <p:cNvCxnSpPr/>
          <p:nvPr/>
        </p:nvCxnSpPr>
        <p:spPr>
          <a:xfrm>
            <a:off x="5952600" y="2926080"/>
            <a:ext cx="338760" cy="360"/>
          </a:xfrm>
          <a:prstGeom prst="straightConnector1">
            <a:avLst/>
          </a:prstGeom>
          <a:ln>
            <a:solidFill>
              <a:srgbClr val="25C2D9"/>
            </a:solidFill>
            <a:round/>
          </a:ln>
        </p:spPr>
      </p:cxnSp>
      <p:sp>
        <p:nvSpPr>
          <p:cNvPr id="135" name="Rounded Rectangle 17"/>
          <p:cNvSpPr/>
          <p:nvPr/>
        </p:nvSpPr>
        <p:spPr>
          <a:xfrm>
            <a:off x="6364080" y="1828800"/>
            <a:ext cx="2404440" cy="223992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ounded Rectangle 18"/>
          <p:cNvSpPr/>
          <p:nvPr/>
        </p:nvSpPr>
        <p:spPr>
          <a:xfrm>
            <a:off x="6546960" y="2057400"/>
            <a:ext cx="502560" cy="502560"/>
          </a:xfrm>
          <a:prstGeom prst="roundRect">
            <a:avLst>
              <a:gd name="adj" fmla="val 16667"/>
            </a:avLst>
          </a:prstGeom>
          <a:solidFill>
            <a:srgbClr val="FF9A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19"/>
          <p:cNvSpPr/>
          <p:nvPr/>
        </p:nvSpPr>
        <p:spPr>
          <a:xfrm>
            <a:off x="6546960" y="216720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2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20"/>
          <p:cNvSpPr/>
          <p:nvPr/>
        </p:nvSpPr>
        <p:spPr>
          <a:xfrm>
            <a:off x="6546960" y="2697480"/>
            <a:ext cx="1919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8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语言指代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21"/>
          <p:cNvSpPr/>
          <p:nvPr/>
        </p:nvSpPr>
        <p:spPr>
          <a:xfrm>
            <a:off x="6546960" y="3127320"/>
            <a:ext cx="1901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按“哪种、哪里、什么属性”</a:t>
            </a:r>
            <a:br>
              <a:rPr sz="1800"/>
            </a:br>
            <a:r>
              <a:rPr lang="zh-CN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直接输出像素掩码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40" name="Connector 22"/>
          <p:cNvCxnSpPr/>
          <p:nvPr/>
        </p:nvCxnSpPr>
        <p:spPr>
          <a:xfrm>
            <a:off x="8814600" y="2926080"/>
            <a:ext cx="338760" cy="360"/>
          </a:xfrm>
          <a:prstGeom prst="straightConnector1">
            <a:avLst/>
          </a:prstGeom>
          <a:ln>
            <a:solidFill>
              <a:srgbClr val="25C2D9"/>
            </a:solidFill>
            <a:round/>
          </a:ln>
        </p:spPr>
      </p:cxnSp>
      <p:sp>
        <p:nvSpPr>
          <p:cNvPr id="141" name="Rounded Rectangle 23"/>
          <p:cNvSpPr/>
          <p:nvPr/>
        </p:nvSpPr>
        <p:spPr>
          <a:xfrm>
            <a:off x="9226440" y="1828800"/>
            <a:ext cx="2404440" cy="223992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ounded Rectangle 24"/>
          <p:cNvSpPr/>
          <p:nvPr/>
        </p:nvSpPr>
        <p:spPr>
          <a:xfrm>
            <a:off x="9409320" y="2057400"/>
            <a:ext cx="502560" cy="502560"/>
          </a:xfrm>
          <a:prstGeom prst="roundRect">
            <a:avLst>
              <a:gd name="adj" fmla="val 16667"/>
            </a:avLst>
          </a:prstGeom>
          <a:solidFill>
            <a:srgbClr val="42D6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25"/>
          <p:cNvSpPr/>
          <p:nvPr/>
        </p:nvSpPr>
        <p:spPr>
          <a:xfrm>
            <a:off x="9409320" y="2167200"/>
            <a:ext cx="5025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2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26"/>
          <p:cNvSpPr/>
          <p:nvPr/>
        </p:nvSpPr>
        <p:spPr>
          <a:xfrm>
            <a:off x="9409320" y="2697480"/>
            <a:ext cx="1919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8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可靠开放集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27"/>
          <p:cNvSpPr/>
          <p:nvPr/>
        </p:nvSpPr>
        <p:spPr>
          <a:xfrm>
            <a:off x="9409320" y="3127320"/>
            <a:ext cx="1901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未见缺陷也能定位</a:t>
            </a:r>
            <a:br>
              <a:rPr sz="1800"/>
            </a:br>
            <a:r>
              <a:rPr lang="zh-CN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找不到时正确拒答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Rounded Rectangle 28"/>
          <p:cNvSpPr/>
          <p:nvPr/>
        </p:nvSpPr>
        <p:spPr>
          <a:xfrm>
            <a:off x="640080" y="4617720"/>
            <a:ext cx="10972440" cy="959760"/>
          </a:xfrm>
          <a:prstGeom prst="roundRect">
            <a:avLst>
              <a:gd name="adj" fmla="val 16667"/>
            </a:avLst>
          </a:prstGeom>
          <a:solidFill>
            <a:srgbClr val="101B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29"/>
          <p:cNvSpPr/>
          <p:nvPr/>
        </p:nvSpPr>
        <p:spPr>
          <a:xfrm>
            <a:off x="887040" y="485532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6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RIAS </a:t>
            </a:r>
            <a:r>
              <a:rPr lang="zh-CN" sz="16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位于第 </a:t>
            </a:r>
            <a:r>
              <a:rPr lang="en-US" sz="16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3 </a:t>
            </a:r>
            <a:r>
              <a:rPr lang="zh-CN" sz="16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阶段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30"/>
          <p:cNvSpPr/>
          <p:nvPr/>
        </p:nvSpPr>
        <p:spPr>
          <a:xfrm>
            <a:off x="3072240" y="4827960"/>
            <a:ext cx="80463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它建立了任务与数据，但第 </a:t>
            </a:r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4 </a:t>
            </a:r>
            <a:r>
              <a:rPr lang="zh-CN" sz="1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阶段的“未见缺陷、反事实文本、跨域和校准拒答”仍是空白。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31"/>
          <p:cNvSpPr/>
          <p:nvPr/>
        </p:nvSpPr>
        <p:spPr>
          <a:xfrm>
            <a:off x="502920" y="6546960"/>
            <a:ext cx="10698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趋势判断：用户提供的 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2026 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文献调研；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RIAS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：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Yue et al., arXiv:2602.03673v1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1"/>
          <p:cNvSpPr/>
          <p:nvPr/>
        </p:nvSpPr>
        <p:spPr>
          <a:xfrm>
            <a:off x="502920" y="2559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VISION-LANGUAGE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"/>
          <p:cNvSpPr/>
          <p:nvPr/>
        </p:nvSpPr>
        <p:spPr>
          <a:xfrm>
            <a:off x="502920" y="53028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视觉语言：四个问题比“更大的模型”更关键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11201400" y="320040"/>
            <a:ext cx="456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04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53" name="Connector 4"/>
          <p:cNvCxnSpPr/>
          <p:nvPr/>
        </p:nvCxnSpPr>
        <p:spPr>
          <a:xfrm>
            <a:off x="502920" y="1115280"/>
            <a:ext cx="11183400" cy="360"/>
          </a:xfrm>
          <a:prstGeom prst="straightConnector1">
            <a:avLst/>
          </a:prstGeom>
          <a:ln w="12700">
            <a:solidFill>
              <a:srgbClr val="2C405F"/>
            </a:solidFill>
            <a:round/>
          </a:ln>
        </p:spPr>
      </p:cxnSp>
      <p:sp>
        <p:nvSpPr>
          <p:cNvPr id="154" name="Rounded Rectangle 5"/>
          <p:cNvSpPr/>
          <p:nvPr/>
        </p:nvSpPr>
        <p:spPr>
          <a:xfrm>
            <a:off x="640080" y="1508760"/>
            <a:ext cx="5284800" cy="184680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Rectangle 6"/>
          <p:cNvSpPr/>
          <p:nvPr/>
        </p:nvSpPr>
        <p:spPr>
          <a:xfrm>
            <a:off x="850320" y="1746360"/>
            <a:ext cx="109440" cy="1343880"/>
          </a:xfrm>
          <a:prstGeom prst="rect">
            <a:avLst/>
          </a:prstGeom>
          <a:solidFill>
            <a:srgbClr val="25C2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7"/>
          <p:cNvSpPr/>
          <p:nvPr/>
        </p:nvSpPr>
        <p:spPr>
          <a:xfrm>
            <a:off x="1115640" y="1737360"/>
            <a:ext cx="2011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8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空间定位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Box 8"/>
          <p:cNvSpPr/>
          <p:nvPr/>
        </p:nvSpPr>
        <p:spPr>
          <a:xfrm>
            <a:off x="1115640" y="222192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4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复杂关系 </a:t>
            </a:r>
            <a:r>
              <a:rPr lang="en-US" sz="14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/ </a:t>
            </a:r>
            <a:r>
              <a:rPr lang="zh-CN" sz="14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小目标 </a:t>
            </a:r>
            <a:r>
              <a:rPr lang="en-US" sz="14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/ </a:t>
            </a:r>
            <a:r>
              <a:rPr lang="zh-CN" sz="14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遮挡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9"/>
          <p:cNvSpPr/>
          <p:nvPr/>
        </p:nvSpPr>
        <p:spPr>
          <a:xfrm>
            <a:off x="1115640" y="2770560"/>
            <a:ext cx="2486880" cy="310680"/>
          </a:xfrm>
          <a:prstGeom prst="roundRect">
            <a:avLst>
              <a:gd name="adj" fmla="val 16667"/>
            </a:avLst>
          </a:prstGeom>
          <a:solidFill>
            <a:srgbClr val="1C2D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10"/>
          <p:cNvSpPr/>
          <p:nvPr/>
        </p:nvSpPr>
        <p:spPr>
          <a:xfrm>
            <a:off x="1134000" y="278424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ctr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900" b="1" u="none" strike="noStrike">
                <a:solidFill>
                  <a:srgbClr val="72E6F4"/>
                </a:solidFill>
                <a:effectLst/>
                <a:uFillTx/>
                <a:latin typeface="Noto Sans CJK SC"/>
              </a:rPr>
              <a:t>GroundingME · Ref-Adv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11"/>
          <p:cNvSpPr/>
          <p:nvPr/>
        </p:nvSpPr>
        <p:spPr>
          <a:xfrm>
            <a:off x="6199560" y="1508760"/>
            <a:ext cx="5284800" cy="184680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Rectangle 12"/>
          <p:cNvSpPr/>
          <p:nvPr/>
        </p:nvSpPr>
        <p:spPr>
          <a:xfrm>
            <a:off x="6409800" y="1746360"/>
            <a:ext cx="109440" cy="1343880"/>
          </a:xfrm>
          <a:prstGeom prst="rect">
            <a:avLst/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13"/>
          <p:cNvSpPr/>
          <p:nvPr/>
        </p:nvSpPr>
        <p:spPr>
          <a:xfrm>
            <a:off x="6675120" y="1737360"/>
            <a:ext cx="2011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8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证据与幻觉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4"/>
          <p:cNvSpPr/>
          <p:nvPr/>
        </p:nvSpPr>
        <p:spPr>
          <a:xfrm>
            <a:off x="6675120" y="222192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4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目标不存在时不应生成掩码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15"/>
          <p:cNvSpPr/>
          <p:nvPr/>
        </p:nvSpPr>
        <p:spPr>
          <a:xfrm>
            <a:off x="6675120" y="2770560"/>
            <a:ext cx="2486880" cy="310680"/>
          </a:xfrm>
          <a:prstGeom prst="roundRect">
            <a:avLst>
              <a:gd name="adj" fmla="val 16667"/>
            </a:avLst>
          </a:prstGeom>
          <a:solidFill>
            <a:srgbClr val="1C2D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16"/>
          <p:cNvSpPr/>
          <p:nvPr/>
        </p:nvSpPr>
        <p:spPr>
          <a:xfrm>
            <a:off x="6693480" y="278424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ctr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900" b="1" u="none" strike="noStrike">
                <a:solidFill>
                  <a:srgbClr val="72E6F4"/>
                </a:solidFill>
                <a:effectLst/>
                <a:uFillTx/>
                <a:latin typeface="Noto Sans CJK SC"/>
              </a:rPr>
              <a:t>Counterfactual reasoning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17"/>
          <p:cNvSpPr/>
          <p:nvPr/>
        </p:nvSpPr>
        <p:spPr>
          <a:xfrm>
            <a:off x="640080" y="3794760"/>
            <a:ext cx="5284800" cy="184680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Rectangle 18"/>
          <p:cNvSpPr/>
          <p:nvPr/>
        </p:nvSpPr>
        <p:spPr>
          <a:xfrm>
            <a:off x="850320" y="4032360"/>
            <a:ext cx="109440" cy="1343880"/>
          </a:xfrm>
          <a:prstGeom prst="rect">
            <a:avLst/>
          </a:prstGeom>
          <a:solidFill>
            <a:srgbClr val="FF9A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Box 19"/>
          <p:cNvSpPr/>
          <p:nvPr/>
        </p:nvSpPr>
        <p:spPr>
          <a:xfrm>
            <a:off x="1115640" y="4023360"/>
            <a:ext cx="2011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8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开放词汇适配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20"/>
          <p:cNvSpPr/>
          <p:nvPr/>
        </p:nvSpPr>
        <p:spPr>
          <a:xfrm>
            <a:off x="1115640" y="450792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4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少量参考图像弥补文本监督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Rounded Rectangle 21"/>
          <p:cNvSpPr/>
          <p:nvPr/>
        </p:nvSpPr>
        <p:spPr>
          <a:xfrm>
            <a:off x="1115640" y="5056560"/>
            <a:ext cx="2486880" cy="310680"/>
          </a:xfrm>
          <a:prstGeom prst="roundRect">
            <a:avLst>
              <a:gd name="adj" fmla="val 16667"/>
            </a:avLst>
          </a:prstGeom>
          <a:solidFill>
            <a:srgbClr val="1C2D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22"/>
          <p:cNvSpPr/>
          <p:nvPr/>
        </p:nvSpPr>
        <p:spPr>
          <a:xfrm>
            <a:off x="1134000" y="507024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ctr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900" b="1" u="none" strike="noStrike">
                <a:solidFill>
                  <a:srgbClr val="72E6F4"/>
                </a:solidFill>
                <a:effectLst/>
                <a:uFillTx/>
                <a:latin typeface="Noto Sans CJK SC"/>
              </a:rPr>
              <a:t>Retrieve &amp; Segment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Rounded Rectangle 23"/>
          <p:cNvSpPr/>
          <p:nvPr/>
        </p:nvSpPr>
        <p:spPr>
          <a:xfrm>
            <a:off x="6199560" y="3794760"/>
            <a:ext cx="5284800" cy="184680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3" name="Rectangle 24"/>
          <p:cNvSpPr/>
          <p:nvPr/>
        </p:nvSpPr>
        <p:spPr>
          <a:xfrm>
            <a:off x="6409800" y="4032360"/>
            <a:ext cx="109440" cy="1343880"/>
          </a:xfrm>
          <a:prstGeom prst="rect">
            <a:avLst/>
          </a:prstGeom>
          <a:solidFill>
            <a:srgbClr val="42D6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25"/>
          <p:cNvSpPr/>
          <p:nvPr/>
        </p:nvSpPr>
        <p:spPr>
          <a:xfrm>
            <a:off x="6675120" y="4023360"/>
            <a:ext cx="20113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8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效率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26"/>
          <p:cNvSpPr/>
          <p:nvPr/>
        </p:nvSpPr>
        <p:spPr>
          <a:xfrm>
            <a:off x="6675120" y="4507920"/>
            <a:ext cx="4297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4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冻结主干、轻量适配、减少串联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27"/>
          <p:cNvSpPr/>
          <p:nvPr/>
        </p:nvSpPr>
        <p:spPr>
          <a:xfrm>
            <a:off x="6675120" y="5056560"/>
            <a:ext cx="2486880" cy="310680"/>
          </a:xfrm>
          <a:prstGeom prst="roundRect">
            <a:avLst>
              <a:gd name="adj" fmla="val 16667"/>
            </a:avLst>
          </a:prstGeom>
          <a:solidFill>
            <a:srgbClr val="1C2D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TextBox 28"/>
          <p:cNvSpPr/>
          <p:nvPr/>
        </p:nvSpPr>
        <p:spPr>
          <a:xfrm>
            <a:off x="6693480" y="5070240"/>
            <a:ext cx="2450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ctr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900" b="1" u="none" strike="noStrike">
                <a:solidFill>
                  <a:srgbClr val="72E6F4"/>
                </a:solidFill>
                <a:effectLst/>
                <a:uFillTx/>
                <a:latin typeface="Noto Sans CJK SC"/>
              </a:rPr>
              <a:t>RADSeg · adapter routes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29"/>
          <p:cNvSpPr/>
          <p:nvPr/>
        </p:nvSpPr>
        <p:spPr>
          <a:xfrm>
            <a:off x="502920" y="6546960"/>
            <a:ext cx="10698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代表工作来自用户提供的 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2026 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检索材料；本页强调研究问题，正式引用前需逐篇核验出版状态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Box 1"/>
          <p:cNvSpPr/>
          <p:nvPr/>
        </p:nvSpPr>
        <p:spPr>
          <a:xfrm>
            <a:off x="502920" y="2559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INDUSTRIAL ANOMALY 2026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2"/>
          <p:cNvSpPr/>
          <p:nvPr/>
        </p:nvSpPr>
        <p:spPr>
          <a:xfrm>
            <a:off x="502920" y="53028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工业异常检测：五条路线正在汇合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3"/>
          <p:cNvSpPr/>
          <p:nvPr/>
        </p:nvSpPr>
        <p:spPr>
          <a:xfrm>
            <a:off x="11201400" y="320040"/>
            <a:ext cx="456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05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82" name="Connector 4"/>
          <p:cNvCxnSpPr/>
          <p:nvPr/>
        </p:nvCxnSpPr>
        <p:spPr>
          <a:xfrm>
            <a:off x="502920" y="1115280"/>
            <a:ext cx="11183400" cy="360"/>
          </a:xfrm>
          <a:prstGeom prst="straightConnector1">
            <a:avLst/>
          </a:prstGeom>
          <a:ln w="12700">
            <a:solidFill>
              <a:srgbClr val="2C405F"/>
            </a:solidFill>
            <a:round/>
          </a:ln>
        </p:spPr>
      </p:cxnSp>
      <p:sp>
        <p:nvSpPr>
          <p:cNvPr id="183" name="Rounded Rectangle 5"/>
          <p:cNvSpPr/>
          <p:nvPr/>
        </p:nvSpPr>
        <p:spPr>
          <a:xfrm>
            <a:off x="567000" y="1572840"/>
            <a:ext cx="2029680" cy="358416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Rectangle 6"/>
          <p:cNvSpPr/>
          <p:nvPr/>
        </p:nvSpPr>
        <p:spPr>
          <a:xfrm>
            <a:off x="749880" y="1801440"/>
            <a:ext cx="1663920" cy="109440"/>
          </a:xfrm>
          <a:prstGeom prst="rect">
            <a:avLst/>
          </a:prstGeom>
          <a:solidFill>
            <a:srgbClr val="25C2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TextBox 7"/>
          <p:cNvSpPr/>
          <p:nvPr/>
        </p:nvSpPr>
        <p:spPr>
          <a:xfrm>
            <a:off x="749880" y="2103120"/>
            <a:ext cx="16639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少</a:t>
            </a:r>
            <a:r>
              <a:rPr lang="en-US" sz="1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/</a:t>
            </a:r>
            <a:r>
              <a:rPr lang="zh-CN" sz="1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零样本、多类别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8"/>
          <p:cNvSpPr/>
          <p:nvPr/>
        </p:nvSpPr>
        <p:spPr>
          <a:xfrm>
            <a:off x="749880" y="2880360"/>
            <a:ext cx="16639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扩到新产品时不崩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9"/>
          <p:cNvSpPr/>
          <p:nvPr/>
        </p:nvSpPr>
        <p:spPr>
          <a:xfrm>
            <a:off x="749880" y="4069080"/>
            <a:ext cx="1663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AnoPLe · MoECLIP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10"/>
          <p:cNvSpPr/>
          <p:nvPr/>
        </p:nvSpPr>
        <p:spPr>
          <a:xfrm>
            <a:off x="749880" y="4663440"/>
            <a:ext cx="411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9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Rounded Rectangle 11"/>
          <p:cNvSpPr/>
          <p:nvPr/>
        </p:nvSpPr>
        <p:spPr>
          <a:xfrm>
            <a:off x="2853000" y="1572840"/>
            <a:ext cx="2029680" cy="358416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Rectangle 12"/>
          <p:cNvSpPr/>
          <p:nvPr/>
        </p:nvSpPr>
        <p:spPr>
          <a:xfrm>
            <a:off x="3035880" y="1801440"/>
            <a:ext cx="1663920" cy="109440"/>
          </a:xfrm>
          <a:prstGeom prst="rect">
            <a:avLst/>
          </a:prstGeom>
          <a:solidFill>
            <a:srgbClr val="FF9A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13"/>
          <p:cNvSpPr/>
          <p:nvPr/>
        </p:nvSpPr>
        <p:spPr>
          <a:xfrm>
            <a:off x="3035880" y="2103120"/>
            <a:ext cx="16639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语言引导分割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14"/>
          <p:cNvSpPr/>
          <p:nvPr/>
        </p:nvSpPr>
        <p:spPr>
          <a:xfrm>
            <a:off x="3035880" y="2880360"/>
            <a:ext cx="16639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按描述输出精细掩码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15"/>
          <p:cNvSpPr/>
          <p:nvPr/>
        </p:nvSpPr>
        <p:spPr>
          <a:xfrm>
            <a:off x="3035880" y="4069080"/>
            <a:ext cx="1663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RIAS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16"/>
          <p:cNvSpPr/>
          <p:nvPr/>
        </p:nvSpPr>
        <p:spPr>
          <a:xfrm>
            <a:off x="3035880" y="4663440"/>
            <a:ext cx="411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9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Rounded Rectangle 17"/>
          <p:cNvSpPr/>
          <p:nvPr/>
        </p:nvSpPr>
        <p:spPr>
          <a:xfrm>
            <a:off x="5139000" y="1572840"/>
            <a:ext cx="2029680" cy="358416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Rectangle 18"/>
          <p:cNvSpPr/>
          <p:nvPr/>
        </p:nvSpPr>
        <p:spPr>
          <a:xfrm>
            <a:off x="5321880" y="1801440"/>
            <a:ext cx="1663920" cy="10944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19"/>
          <p:cNvSpPr/>
          <p:nvPr/>
        </p:nvSpPr>
        <p:spPr>
          <a:xfrm>
            <a:off x="5321880" y="2103120"/>
            <a:ext cx="16639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统一异常理解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20"/>
          <p:cNvSpPr/>
          <p:nvPr/>
        </p:nvSpPr>
        <p:spPr>
          <a:xfrm>
            <a:off x="5321880" y="2880360"/>
            <a:ext cx="16639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检测 </a:t>
            </a:r>
            <a:r>
              <a:rPr lang="en-US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+ </a:t>
            </a:r>
            <a:r>
              <a:rPr lang="zh-CN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分割 </a:t>
            </a:r>
            <a:r>
              <a:rPr lang="en-US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+ </a:t>
            </a:r>
            <a:r>
              <a:rPr lang="zh-CN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分类 </a:t>
            </a:r>
            <a:r>
              <a:rPr lang="en-US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+ </a:t>
            </a:r>
            <a:r>
              <a:rPr lang="zh-CN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解释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21"/>
          <p:cNvSpPr/>
          <p:nvPr/>
        </p:nvSpPr>
        <p:spPr>
          <a:xfrm>
            <a:off x="5321880" y="4069080"/>
            <a:ext cx="1663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A78BFA"/>
                </a:solidFill>
                <a:effectLst/>
                <a:uFillTx/>
                <a:latin typeface="Noto Sans CJK SC"/>
              </a:rPr>
              <a:t>GenAU · AD-Copilot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22"/>
          <p:cNvSpPr/>
          <p:nvPr/>
        </p:nvSpPr>
        <p:spPr>
          <a:xfrm>
            <a:off x="5321880" y="4663440"/>
            <a:ext cx="411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9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03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Rounded Rectangle 23"/>
          <p:cNvSpPr/>
          <p:nvPr/>
        </p:nvSpPr>
        <p:spPr>
          <a:xfrm>
            <a:off x="7425000" y="1572840"/>
            <a:ext cx="2029680" cy="358416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Rectangle 24"/>
          <p:cNvSpPr/>
          <p:nvPr/>
        </p:nvSpPr>
        <p:spPr>
          <a:xfrm>
            <a:off x="7607880" y="1801440"/>
            <a:ext cx="1663920" cy="109440"/>
          </a:xfrm>
          <a:prstGeom prst="rect">
            <a:avLst/>
          </a:prstGeom>
          <a:solidFill>
            <a:srgbClr val="42D6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Box 25"/>
          <p:cNvSpPr/>
          <p:nvPr/>
        </p:nvSpPr>
        <p:spPr>
          <a:xfrm>
            <a:off x="7607880" y="2103120"/>
            <a:ext cx="16639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冻结基础模型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Box 26"/>
          <p:cNvSpPr/>
          <p:nvPr/>
        </p:nvSpPr>
        <p:spPr>
          <a:xfrm>
            <a:off x="7607880" y="2880360"/>
            <a:ext cx="16639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DINO/CLIP + </a:t>
            </a:r>
            <a:r>
              <a:rPr lang="zh-CN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轻量适配器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27"/>
          <p:cNvSpPr/>
          <p:nvPr/>
        </p:nvSpPr>
        <p:spPr>
          <a:xfrm>
            <a:off x="7607880" y="4069080"/>
            <a:ext cx="1663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42D6A4"/>
                </a:solidFill>
                <a:effectLst/>
                <a:uFillTx/>
                <a:latin typeface="Noto Sans CJK SC"/>
              </a:rPr>
              <a:t>PALADIN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28"/>
          <p:cNvSpPr/>
          <p:nvPr/>
        </p:nvSpPr>
        <p:spPr>
          <a:xfrm>
            <a:off x="7607880" y="4663440"/>
            <a:ext cx="411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9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04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Rounded Rectangle 29"/>
          <p:cNvSpPr/>
          <p:nvPr/>
        </p:nvSpPr>
        <p:spPr>
          <a:xfrm>
            <a:off x="9711000" y="1572840"/>
            <a:ext cx="2029680" cy="358416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Rectangle 30"/>
          <p:cNvSpPr/>
          <p:nvPr/>
        </p:nvSpPr>
        <p:spPr>
          <a:xfrm>
            <a:off x="9893880" y="1801440"/>
            <a:ext cx="1663920" cy="109440"/>
          </a:xfrm>
          <a:prstGeom prst="rect">
            <a:avLst/>
          </a:prstGeom>
          <a:solidFill>
            <a:srgbClr val="F6C45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31"/>
          <p:cNvSpPr/>
          <p:nvPr/>
        </p:nvSpPr>
        <p:spPr>
          <a:xfrm>
            <a:off x="9893880" y="2103120"/>
            <a:ext cx="16639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真实场景与数据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32"/>
          <p:cNvSpPr/>
          <p:nvPr/>
        </p:nvSpPr>
        <p:spPr>
          <a:xfrm>
            <a:off x="9893880" y="2880360"/>
            <a:ext cx="16639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合成缺陷、多视角、</a:t>
            </a:r>
            <a:r>
              <a:rPr lang="en-US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3D/</a:t>
            </a:r>
            <a:r>
              <a:rPr lang="zh-CN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视频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33"/>
          <p:cNvSpPr/>
          <p:nvPr/>
        </p:nvSpPr>
        <p:spPr>
          <a:xfrm>
            <a:off x="9893880" y="4069080"/>
            <a:ext cx="16639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F6C453"/>
                </a:solidFill>
                <a:effectLst/>
                <a:uFillTx/>
                <a:latin typeface="Noto Sans CJK SC"/>
              </a:rPr>
              <a:t>MIRAGE · MMVIAD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34"/>
          <p:cNvSpPr/>
          <p:nvPr/>
        </p:nvSpPr>
        <p:spPr>
          <a:xfrm>
            <a:off x="9893880" y="4663440"/>
            <a:ext cx="411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9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05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Rounded Rectangle 35"/>
          <p:cNvSpPr/>
          <p:nvPr/>
        </p:nvSpPr>
        <p:spPr>
          <a:xfrm>
            <a:off x="567000" y="5468040"/>
            <a:ext cx="11045520" cy="658080"/>
          </a:xfrm>
          <a:prstGeom prst="roundRect">
            <a:avLst>
              <a:gd name="adj" fmla="val 16667"/>
            </a:avLst>
          </a:prstGeom>
          <a:solidFill>
            <a:srgbClr val="101B2D"/>
          </a:solidFill>
          <a:ln w="12700">
            <a:solidFill>
              <a:srgbClr val="FF9A5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36"/>
          <p:cNvSpPr/>
          <p:nvPr/>
        </p:nvSpPr>
        <p:spPr>
          <a:xfrm>
            <a:off x="804600" y="5650920"/>
            <a:ext cx="1096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2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共同瓶颈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37"/>
          <p:cNvSpPr/>
          <p:nvPr/>
        </p:nvSpPr>
        <p:spPr>
          <a:xfrm>
            <a:off x="1920240" y="5586840"/>
            <a:ext cx="89607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7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小缺陷 </a:t>
            </a:r>
            <a:r>
              <a:rPr lang="en-US" sz="17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+ </a:t>
            </a:r>
            <a:r>
              <a:rPr lang="zh-CN" sz="17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未见类别 </a:t>
            </a:r>
            <a:r>
              <a:rPr lang="en-US" sz="17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+ </a:t>
            </a:r>
            <a:r>
              <a:rPr lang="zh-CN" sz="17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文本扰动 </a:t>
            </a:r>
            <a:r>
              <a:rPr lang="en-US" sz="17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+ no-target </a:t>
            </a:r>
            <a:r>
              <a:rPr lang="zh-CN" sz="17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拒答 </a:t>
            </a:r>
            <a:r>
              <a:rPr lang="en-US" sz="17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+ </a:t>
            </a:r>
            <a:r>
              <a:rPr lang="zh-CN" sz="17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跨域泛化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38"/>
          <p:cNvSpPr/>
          <p:nvPr/>
        </p:nvSpPr>
        <p:spPr>
          <a:xfrm>
            <a:off x="502920" y="6546960"/>
            <a:ext cx="10698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路线图来自用户提供的 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2026 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检索材料；论文与数据集名称用于导航，不作未核验的性能结论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Box 1"/>
          <p:cNvSpPr/>
          <p:nvPr/>
        </p:nvSpPr>
        <p:spPr>
          <a:xfrm>
            <a:off x="502920" y="2559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PAPER DEEP DIVE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2"/>
          <p:cNvSpPr/>
          <p:nvPr/>
        </p:nvSpPr>
        <p:spPr>
          <a:xfrm>
            <a:off x="502920" y="53028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RIAS</a:t>
            </a:r>
            <a:r>
              <a:rPr lang="zh-CN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：把“异常检测”改写成“文本指代分割”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3"/>
          <p:cNvSpPr/>
          <p:nvPr/>
        </p:nvSpPr>
        <p:spPr>
          <a:xfrm>
            <a:off x="11201400" y="320040"/>
            <a:ext cx="456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06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20" name="Connector 4"/>
          <p:cNvCxnSpPr/>
          <p:nvPr/>
        </p:nvCxnSpPr>
        <p:spPr>
          <a:xfrm>
            <a:off x="502920" y="1115280"/>
            <a:ext cx="11183400" cy="360"/>
          </a:xfrm>
          <a:prstGeom prst="straightConnector1">
            <a:avLst/>
          </a:prstGeom>
          <a:ln w="12700">
            <a:solidFill>
              <a:srgbClr val="2C405F"/>
            </a:solidFill>
            <a:round/>
          </a:ln>
        </p:spPr>
      </p:cxnSp>
      <p:sp>
        <p:nvSpPr>
          <p:cNvPr id="221" name="Rounded Rectangle 5"/>
          <p:cNvSpPr/>
          <p:nvPr/>
        </p:nvSpPr>
        <p:spPr>
          <a:xfrm>
            <a:off x="5989320" y="1389960"/>
            <a:ext cx="5623200" cy="4434480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22" name="Picture 6" descr="fig1.png"/>
          <p:cNvPicPr/>
          <p:nvPr/>
        </p:nvPicPr>
        <p:blipFill>
          <a:blip r:embed="rId1"/>
          <a:stretch/>
        </p:blipFill>
        <p:spPr>
          <a:xfrm>
            <a:off x="6219720" y="1481400"/>
            <a:ext cx="5162760" cy="425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Box 7"/>
          <p:cNvSpPr/>
          <p:nvPr/>
        </p:nvSpPr>
        <p:spPr>
          <a:xfrm>
            <a:off x="640080" y="15728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2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输入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8"/>
          <p:cNvSpPr/>
          <p:nvPr/>
        </p:nvSpPr>
        <p:spPr>
          <a:xfrm>
            <a:off x="640080" y="1883520"/>
            <a:ext cx="4480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22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图像 </a:t>
            </a:r>
            <a:r>
              <a:rPr lang="en-US" sz="22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I  +  </a:t>
            </a:r>
            <a:r>
              <a:rPr lang="zh-CN" sz="22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描述 </a:t>
            </a:r>
            <a:r>
              <a:rPr lang="en-US" sz="22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L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9"/>
          <p:cNvSpPr/>
          <p:nvPr/>
        </p:nvSpPr>
        <p:spPr>
          <a:xfrm>
            <a:off x="640080" y="248724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2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输出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10"/>
          <p:cNvSpPr/>
          <p:nvPr/>
        </p:nvSpPr>
        <p:spPr>
          <a:xfrm>
            <a:off x="640080" y="2797920"/>
            <a:ext cx="4937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22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掩码 </a:t>
            </a:r>
            <a:r>
              <a:rPr lang="en-US" sz="22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M  +  </a:t>
            </a:r>
            <a:r>
              <a:rPr lang="zh-CN" sz="22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无异常标识 </a:t>
            </a:r>
            <a:r>
              <a:rPr lang="en-US" sz="22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E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Rounded Rectangle 11"/>
          <p:cNvSpPr/>
          <p:nvPr/>
        </p:nvSpPr>
        <p:spPr>
          <a:xfrm>
            <a:off x="640080" y="3493080"/>
            <a:ext cx="4919040" cy="148104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12"/>
          <p:cNvSpPr/>
          <p:nvPr/>
        </p:nvSpPr>
        <p:spPr>
          <a:xfrm>
            <a:off x="868680" y="3730680"/>
            <a:ext cx="4434480" cy="98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7360" rIns="36720" bIns="27360" anchor="t">
            <a:spAutoFit/>
          </a:bodyPr>
          <a:p>
            <a:pPr defTabSz="457200">
              <a:lnSpc>
                <a:spcPct val="108000"/>
              </a:lnSpc>
              <a:spcAft>
                <a:spcPts val="700"/>
              </a:spcAft>
            </a:pPr>
            <a:r>
              <a:rPr lang="en-US" sz="13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① 文本可指定缺陷类别、属性与位置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700"/>
              </a:spcAft>
            </a:pPr>
            <a:r>
              <a:rPr lang="en-US" sz="13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② 通用提示 “</a:t>
            </a:r>
            <a:r>
              <a:rPr lang="en-US" sz="13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The anomaly” </a:t>
            </a:r>
            <a:r>
              <a:rPr lang="zh-CN" sz="13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可覆盖多种缺陷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700"/>
              </a:spcAft>
            </a:pPr>
            <a:r>
              <a:rPr lang="en-US" sz="13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③ E </a:t>
            </a:r>
            <a:r>
              <a:rPr lang="zh-CN" sz="13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判为 </a:t>
            </a:r>
            <a:r>
              <a:rPr lang="en-US" sz="13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no-anomaly </a:t>
            </a:r>
            <a:r>
              <a:rPr lang="zh-CN" sz="13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时输出空掩码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Rounded Rectangle 13"/>
          <p:cNvSpPr/>
          <p:nvPr/>
        </p:nvSpPr>
        <p:spPr>
          <a:xfrm>
            <a:off x="658440" y="5340240"/>
            <a:ext cx="1444320" cy="310680"/>
          </a:xfrm>
          <a:prstGeom prst="roundRect">
            <a:avLst>
              <a:gd name="adj" fmla="val 16667"/>
            </a:avLst>
          </a:prstGeom>
          <a:solidFill>
            <a:srgbClr val="FF9A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Box 14"/>
          <p:cNvSpPr/>
          <p:nvPr/>
        </p:nvSpPr>
        <p:spPr>
          <a:xfrm>
            <a:off x="676800" y="5353920"/>
            <a:ext cx="14079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ctr">
            <a:spAutoFit/>
          </a:bodyPr>
          <a:p>
            <a:pPr algn="ctr" defTabSz="457200">
              <a:lnSpc>
                <a:spcPct val="108000"/>
              </a:lnSpc>
            </a:pPr>
            <a:r>
              <a:rPr lang="zh-CN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任务范式：</a:t>
            </a:r>
            <a:r>
              <a:rPr lang="en-US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RIAS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Rounded Rectangle 15"/>
          <p:cNvSpPr/>
          <p:nvPr/>
        </p:nvSpPr>
        <p:spPr>
          <a:xfrm>
            <a:off x="2267640" y="5340240"/>
            <a:ext cx="1846800" cy="310680"/>
          </a:xfrm>
          <a:prstGeom prst="roundRect">
            <a:avLst>
              <a:gd name="adj" fmla="val 16667"/>
            </a:avLst>
          </a:prstGeom>
          <a:solidFill>
            <a:srgbClr val="25C2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16"/>
          <p:cNvSpPr/>
          <p:nvPr/>
        </p:nvSpPr>
        <p:spPr>
          <a:xfrm>
            <a:off x="2286000" y="5353920"/>
            <a:ext cx="1810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ctr">
            <a:spAutoFit/>
          </a:bodyPr>
          <a:p>
            <a:pPr algn="ctr" defTabSz="457200">
              <a:lnSpc>
                <a:spcPct val="108000"/>
              </a:lnSpc>
            </a:pPr>
            <a:r>
              <a:rPr lang="zh-CN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基线模型：</a:t>
            </a:r>
            <a:r>
              <a:rPr lang="en-US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DQFormer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17"/>
          <p:cNvSpPr/>
          <p:nvPr/>
        </p:nvSpPr>
        <p:spPr>
          <a:xfrm>
            <a:off x="502920" y="6546960"/>
            <a:ext cx="10698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来源：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Yue et al., Referring Industrial Anomaly Segmentation, Fig.1, arXiv:2602.03673v1 (2026)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Box 1"/>
          <p:cNvSpPr/>
          <p:nvPr/>
        </p:nvSpPr>
        <p:spPr>
          <a:xfrm>
            <a:off x="502920" y="2559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DATASET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2"/>
          <p:cNvSpPr/>
          <p:nvPr/>
        </p:nvSpPr>
        <p:spPr>
          <a:xfrm>
            <a:off x="502920" y="53028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MVTec-Ref</a:t>
            </a:r>
            <a:r>
              <a:rPr lang="zh-CN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：</a:t>
            </a:r>
            <a:r>
              <a:rPr lang="en-US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2,110 </a:t>
            </a:r>
            <a:r>
              <a:rPr lang="zh-CN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个图像—文本—掩码三元组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3"/>
          <p:cNvSpPr/>
          <p:nvPr/>
        </p:nvSpPr>
        <p:spPr>
          <a:xfrm>
            <a:off x="11201400" y="320040"/>
            <a:ext cx="456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07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37" name="Connector 4"/>
          <p:cNvCxnSpPr/>
          <p:nvPr/>
        </p:nvCxnSpPr>
        <p:spPr>
          <a:xfrm>
            <a:off x="502920" y="1115280"/>
            <a:ext cx="11183400" cy="360"/>
          </a:xfrm>
          <a:prstGeom prst="straightConnector1">
            <a:avLst/>
          </a:prstGeom>
          <a:ln w="12700">
            <a:solidFill>
              <a:srgbClr val="2C405F"/>
            </a:solidFill>
            <a:round/>
          </a:ln>
        </p:spPr>
      </p:cxnSp>
      <p:sp>
        <p:nvSpPr>
          <p:cNvPr id="238" name="Rounded Rectangle 5"/>
          <p:cNvSpPr/>
          <p:nvPr/>
        </p:nvSpPr>
        <p:spPr>
          <a:xfrm>
            <a:off x="6446520" y="1353240"/>
            <a:ext cx="5157000" cy="4343040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39" name="Picture 6" descr="dataset_stats.png"/>
          <p:cNvPicPr/>
          <p:nvPr/>
        </p:nvPicPr>
        <p:blipFill>
          <a:blip r:embed="rId1"/>
          <a:stretch/>
        </p:blipFill>
        <p:spPr>
          <a:xfrm>
            <a:off x="7111800" y="1398960"/>
            <a:ext cx="3826440" cy="425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Rounded Rectangle 7"/>
          <p:cNvSpPr/>
          <p:nvPr/>
        </p:nvSpPr>
        <p:spPr>
          <a:xfrm>
            <a:off x="640080" y="1490400"/>
            <a:ext cx="1416960" cy="95976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8"/>
          <p:cNvSpPr/>
          <p:nvPr/>
        </p:nvSpPr>
        <p:spPr>
          <a:xfrm>
            <a:off x="640080" y="166428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20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1,224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9"/>
          <p:cNvSpPr/>
          <p:nvPr/>
        </p:nvSpPr>
        <p:spPr>
          <a:xfrm>
            <a:off x="640080" y="206640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Train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Rounded Rectangle 10"/>
          <p:cNvSpPr/>
          <p:nvPr/>
        </p:nvSpPr>
        <p:spPr>
          <a:xfrm>
            <a:off x="2258640" y="1490400"/>
            <a:ext cx="1416960" cy="95976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11"/>
          <p:cNvSpPr/>
          <p:nvPr/>
        </p:nvSpPr>
        <p:spPr>
          <a:xfrm>
            <a:off x="2258640" y="166428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20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384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12"/>
          <p:cNvSpPr/>
          <p:nvPr/>
        </p:nvSpPr>
        <p:spPr>
          <a:xfrm>
            <a:off x="2258640" y="206640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Val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Rounded Rectangle 13"/>
          <p:cNvSpPr/>
          <p:nvPr/>
        </p:nvSpPr>
        <p:spPr>
          <a:xfrm>
            <a:off x="3877200" y="1490400"/>
            <a:ext cx="1416960" cy="95976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14"/>
          <p:cNvSpPr/>
          <p:nvPr/>
        </p:nvSpPr>
        <p:spPr>
          <a:xfrm>
            <a:off x="3877200" y="1664280"/>
            <a:ext cx="1416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20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502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15"/>
          <p:cNvSpPr/>
          <p:nvPr/>
        </p:nvSpPr>
        <p:spPr>
          <a:xfrm>
            <a:off x="3877200" y="2066400"/>
            <a:ext cx="14169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Test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Rounded Rectangle 16"/>
          <p:cNvSpPr/>
          <p:nvPr/>
        </p:nvSpPr>
        <p:spPr>
          <a:xfrm>
            <a:off x="640080" y="2761560"/>
            <a:ext cx="5257440" cy="208440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17"/>
          <p:cNvSpPr/>
          <p:nvPr/>
        </p:nvSpPr>
        <p:spPr>
          <a:xfrm>
            <a:off x="877680" y="299016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标注表达三类信息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18"/>
          <p:cNvSpPr/>
          <p:nvPr/>
        </p:nvSpPr>
        <p:spPr>
          <a:xfrm>
            <a:off x="877680" y="3447360"/>
            <a:ext cx="452592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7360" rIns="36720" bIns="27360" anchor="t">
            <a:spAutoFit/>
          </a:bodyPr>
          <a:p>
            <a:pPr defTabSz="457200">
              <a:lnSpc>
                <a:spcPct val="108000"/>
              </a:lnSpc>
              <a:spcAft>
                <a:spcPts val="700"/>
              </a:spcAft>
            </a:pPr>
            <a:r>
              <a:rPr lang="zh-CN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类别 </a:t>
            </a:r>
            <a:r>
              <a:rPr lang="en-US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/ </a:t>
            </a:r>
            <a:r>
              <a:rPr lang="zh-CN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属性：</a:t>
            </a:r>
            <a:r>
              <a:rPr lang="en-US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red stain, hole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700"/>
              </a:spcAft>
            </a:pPr>
            <a:r>
              <a:rPr lang="zh-CN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空间关系：</a:t>
            </a:r>
            <a:r>
              <a:rPr lang="en-US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left / middle / screw head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700"/>
              </a:spcAft>
            </a:pPr>
            <a:r>
              <a:rPr lang="zh-CN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泛化提示：</a:t>
            </a:r>
            <a:r>
              <a:rPr lang="en-US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The anomaly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Rounded Rectangle 19"/>
          <p:cNvSpPr/>
          <p:nvPr/>
        </p:nvSpPr>
        <p:spPr>
          <a:xfrm>
            <a:off x="640080" y="5148000"/>
            <a:ext cx="5257440" cy="749520"/>
          </a:xfrm>
          <a:prstGeom prst="roundRect">
            <a:avLst>
              <a:gd name="adj" fmla="val 16667"/>
            </a:avLst>
          </a:prstGeom>
          <a:solidFill>
            <a:srgbClr val="101B2D"/>
          </a:solidFill>
          <a:ln w="12700">
            <a:solidFill>
              <a:srgbClr val="FF9A5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20"/>
          <p:cNvSpPr/>
          <p:nvPr/>
        </p:nvSpPr>
        <p:spPr>
          <a:xfrm>
            <a:off x="859680" y="5358240"/>
            <a:ext cx="4480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6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&gt;90% </a:t>
            </a:r>
            <a:r>
              <a:rPr lang="zh-CN" sz="16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掩码面积 </a:t>
            </a:r>
            <a:r>
              <a:rPr lang="en-US" sz="16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&lt; </a:t>
            </a:r>
            <a:r>
              <a:rPr lang="zh-CN" sz="16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图像的 </a:t>
            </a:r>
            <a:r>
              <a:rPr lang="en-US" sz="16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10%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21"/>
          <p:cNvSpPr/>
          <p:nvPr/>
        </p:nvSpPr>
        <p:spPr>
          <a:xfrm>
            <a:off x="502920" y="6546960"/>
            <a:ext cx="10698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来源：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RIAS §3.2, §5.1 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与 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Appendix C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；正文对小异常比例写法存在 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90%/95%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差异，故此处采用“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&gt;90%”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Box 1"/>
          <p:cNvSpPr/>
          <p:nvPr/>
        </p:nvSpPr>
        <p:spPr>
          <a:xfrm>
            <a:off x="502920" y="2559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DQFORMER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2"/>
          <p:cNvSpPr/>
          <p:nvPr/>
        </p:nvSpPr>
        <p:spPr>
          <a:xfrm>
            <a:off x="502920" y="53028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DQFormer</a:t>
            </a:r>
            <a:r>
              <a:rPr lang="zh-CN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：多尺度视觉语言编码 </a:t>
            </a:r>
            <a:r>
              <a:rPr lang="en-US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+ </a:t>
            </a:r>
            <a:r>
              <a:rPr lang="zh-CN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双查询掩码解码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3"/>
          <p:cNvSpPr/>
          <p:nvPr/>
        </p:nvSpPr>
        <p:spPr>
          <a:xfrm>
            <a:off x="11201400" y="320040"/>
            <a:ext cx="456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08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58" name="Connector 4"/>
          <p:cNvCxnSpPr/>
          <p:nvPr/>
        </p:nvCxnSpPr>
        <p:spPr>
          <a:xfrm>
            <a:off x="502920" y="1115280"/>
            <a:ext cx="11183400" cy="360"/>
          </a:xfrm>
          <a:prstGeom prst="straightConnector1">
            <a:avLst/>
          </a:prstGeom>
          <a:ln w="12700">
            <a:solidFill>
              <a:srgbClr val="2C405F"/>
            </a:solidFill>
            <a:round/>
          </a:ln>
        </p:spPr>
      </p:cxnSp>
      <p:sp>
        <p:nvSpPr>
          <p:cNvPr id="259" name="Rounded Rectangle 5"/>
          <p:cNvSpPr/>
          <p:nvPr/>
        </p:nvSpPr>
        <p:spPr>
          <a:xfrm>
            <a:off x="594360" y="1353240"/>
            <a:ext cx="11018160" cy="4160160"/>
          </a:xfrm>
          <a:prstGeom prst="roundRect">
            <a:avLst>
              <a:gd name="adj" fmla="val 16667"/>
            </a:avLst>
          </a:prstGeom>
          <a:solidFill>
            <a:srgbClr val="F7FAFC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0" name="Picture 6" descr="fig3_arch.png"/>
          <p:cNvPicPr/>
          <p:nvPr/>
        </p:nvPicPr>
        <p:blipFill>
          <a:blip r:embed="rId1"/>
          <a:stretch/>
        </p:blipFill>
        <p:spPr>
          <a:xfrm>
            <a:off x="732600" y="1426320"/>
            <a:ext cx="10742040" cy="401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Rounded Rectangle 7"/>
          <p:cNvSpPr/>
          <p:nvPr/>
        </p:nvSpPr>
        <p:spPr>
          <a:xfrm>
            <a:off x="841320" y="5669280"/>
            <a:ext cx="1645560" cy="310680"/>
          </a:xfrm>
          <a:prstGeom prst="roundRect">
            <a:avLst>
              <a:gd name="adj" fmla="val 16667"/>
            </a:avLst>
          </a:prstGeom>
          <a:solidFill>
            <a:srgbClr val="25C2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8"/>
          <p:cNvSpPr/>
          <p:nvPr/>
        </p:nvSpPr>
        <p:spPr>
          <a:xfrm>
            <a:off x="859680" y="5682960"/>
            <a:ext cx="1608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ctr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① Swin </a:t>
            </a:r>
            <a:r>
              <a:rPr lang="zh-CN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四阶段特征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Rounded Rectangle 9"/>
          <p:cNvSpPr/>
          <p:nvPr/>
        </p:nvSpPr>
        <p:spPr>
          <a:xfrm>
            <a:off x="2743200" y="5669280"/>
            <a:ext cx="2011320" cy="310680"/>
          </a:xfrm>
          <a:prstGeom prst="roundRect">
            <a:avLst>
              <a:gd name="adj" fmla="val 16667"/>
            </a:avLst>
          </a:prstGeom>
          <a:solidFill>
            <a:srgbClr val="FF9A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10"/>
          <p:cNvSpPr/>
          <p:nvPr/>
        </p:nvSpPr>
        <p:spPr>
          <a:xfrm>
            <a:off x="2761560" y="5682960"/>
            <a:ext cx="1974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ctr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② LMA </a:t>
            </a:r>
            <a:r>
              <a:rPr lang="zh-CN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局部多尺度增强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11"/>
          <p:cNvSpPr/>
          <p:nvPr/>
        </p:nvSpPr>
        <p:spPr>
          <a:xfrm>
            <a:off x="5010840" y="5669280"/>
            <a:ext cx="1828440" cy="31068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6" name="TextBox 12"/>
          <p:cNvSpPr/>
          <p:nvPr/>
        </p:nvSpPr>
        <p:spPr>
          <a:xfrm>
            <a:off x="5029200" y="5682960"/>
            <a:ext cx="1791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ctr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③ A / B </a:t>
            </a:r>
            <a:r>
              <a:rPr lang="zh-CN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双查询交互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Rounded Rectangle 13"/>
          <p:cNvSpPr/>
          <p:nvPr/>
        </p:nvSpPr>
        <p:spPr>
          <a:xfrm>
            <a:off x="7095600" y="5669280"/>
            <a:ext cx="1956600" cy="310680"/>
          </a:xfrm>
          <a:prstGeom prst="roundRect">
            <a:avLst>
              <a:gd name="adj" fmla="val 16667"/>
            </a:avLst>
          </a:prstGeom>
          <a:solidFill>
            <a:srgbClr val="42D6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14"/>
          <p:cNvSpPr/>
          <p:nvPr/>
        </p:nvSpPr>
        <p:spPr>
          <a:xfrm>
            <a:off x="7113960" y="568296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ctr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④ Mask + No-Anomaly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5"/>
          <p:cNvSpPr/>
          <p:nvPr/>
        </p:nvSpPr>
        <p:spPr>
          <a:xfrm>
            <a:off x="502920" y="6546960"/>
            <a:ext cx="10698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来源：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RIAS Fig.3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；视觉主干 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Swin Transformer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，语言特征通过 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LMA 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与 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Mask Group Decoder 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进入分割过程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Box 1"/>
          <p:cNvSpPr/>
          <p:nvPr/>
        </p:nvSpPr>
        <p:spPr>
          <a:xfrm>
            <a:off x="502920" y="2559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MECHANISMS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2"/>
          <p:cNvSpPr/>
          <p:nvPr/>
        </p:nvSpPr>
        <p:spPr>
          <a:xfrm>
            <a:off x="502920" y="53028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两个关键设计：看清小缺陷，隔离语言与背景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3"/>
          <p:cNvSpPr/>
          <p:nvPr/>
        </p:nvSpPr>
        <p:spPr>
          <a:xfrm>
            <a:off x="11201400" y="320040"/>
            <a:ext cx="456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09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73" name="Connector 4"/>
          <p:cNvCxnSpPr/>
          <p:nvPr/>
        </p:nvCxnSpPr>
        <p:spPr>
          <a:xfrm>
            <a:off x="502920" y="1115280"/>
            <a:ext cx="11183400" cy="360"/>
          </a:xfrm>
          <a:prstGeom prst="straightConnector1">
            <a:avLst/>
          </a:prstGeom>
          <a:ln w="12700">
            <a:solidFill>
              <a:srgbClr val="2C405F"/>
            </a:solidFill>
            <a:round/>
          </a:ln>
        </p:spPr>
      </p:cxnSp>
      <p:sp>
        <p:nvSpPr>
          <p:cNvPr id="274" name="Rounded Rectangle 5"/>
          <p:cNvSpPr/>
          <p:nvPr/>
        </p:nvSpPr>
        <p:spPr>
          <a:xfrm>
            <a:off x="640080" y="1444680"/>
            <a:ext cx="5303160" cy="452592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5" name="Rounded Rectangle 6"/>
          <p:cNvSpPr/>
          <p:nvPr/>
        </p:nvSpPr>
        <p:spPr>
          <a:xfrm>
            <a:off x="877680" y="1719000"/>
            <a:ext cx="685440" cy="310680"/>
          </a:xfrm>
          <a:prstGeom prst="roundRect">
            <a:avLst>
              <a:gd name="adj" fmla="val 16667"/>
            </a:avLst>
          </a:prstGeom>
          <a:solidFill>
            <a:srgbClr val="FF9A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Box 7"/>
          <p:cNvSpPr/>
          <p:nvPr/>
        </p:nvSpPr>
        <p:spPr>
          <a:xfrm>
            <a:off x="896040" y="1732680"/>
            <a:ext cx="648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ctr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LMA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8"/>
          <p:cNvSpPr/>
          <p:nvPr/>
        </p:nvSpPr>
        <p:spPr>
          <a:xfrm>
            <a:off x="877680" y="2167200"/>
            <a:ext cx="43887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9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局部多尺度 </a:t>
            </a:r>
            <a:r>
              <a:rPr lang="en-US" sz="19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+ </a:t>
            </a:r>
            <a:r>
              <a:rPr lang="zh-CN" sz="19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语言门控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Rounded Rectangle 9"/>
          <p:cNvSpPr/>
          <p:nvPr/>
        </p:nvSpPr>
        <p:spPr>
          <a:xfrm>
            <a:off x="941760" y="2853000"/>
            <a:ext cx="914040" cy="914040"/>
          </a:xfrm>
          <a:prstGeom prst="roundRect">
            <a:avLst>
              <a:gd name="adj" fmla="val 16667"/>
            </a:avLst>
          </a:prstGeom>
          <a:solidFill>
            <a:srgbClr val="25C2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10"/>
          <p:cNvSpPr/>
          <p:nvPr/>
        </p:nvSpPr>
        <p:spPr>
          <a:xfrm>
            <a:off x="941760" y="31363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4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1×1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Rounded Rectangle 11"/>
          <p:cNvSpPr/>
          <p:nvPr/>
        </p:nvSpPr>
        <p:spPr>
          <a:xfrm>
            <a:off x="2020680" y="2853000"/>
            <a:ext cx="914040" cy="914040"/>
          </a:xfrm>
          <a:prstGeom prst="roundRect">
            <a:avLst>
              <a:gd name="adj" fmla="val 16667"/>
            </a:avLst>
          </a:prstGeom>
          <a:solidFill>
            <a:srgbClr val="FF9A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TextBox 12"/>
          <p:cNvSpPr/>
          <p:nvPr/>
        </p:nvSpPr>
        <p:spPr>
          <a:xfrm>
            <a:off x="2020680" y="31363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4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3×3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Rounded Rectangle 13"/>
          <p:cNvSpPr/>
          <p:nvPr/>
        </p:nvSpPr>
        <p:spPr>
          <a:xfrm>
            <a:off x="3099960" y="2853000"/>
            <a:ext cx="914040" cy="914040"/>
          </a:xfrm>
          <a:prstGeom prst="roundRect">
            <a:avLst>
              <a:gd name="adj" fmla="val 16667"/>
            </a:avLst>
          </a:prstGeom>
          <a:solidFill>
            <a:srgbClr val="42D6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3" name="TextBox 14"/>
          <p:cNvSpPr/>
          <p:nvPr/>
        </p:nvSpPr>
        <p:spPr>
          <a:xfrm>
            <a:off x="3099960" y="3136320"/>
            <a:ext cx="914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4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5×5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15"/>
          <p:cNvSpPr/>
          <p:nvPr/>
        </p:nvSpPr>
        <p:spPr>
          <a:xfrm>
            <a:off x="877680" y="4069080"/>
            <a:ext cx="446184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平均池化聚合邻域 → 与文本做交叉注意力 → 门控回注视觉主干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16"/>
          <p:cNvSpPr/>
          <p:nvPr/>
        </p:nvSpPr>
        <p:spPr>
          <a:xfrm>
            <a:off x="877680" y="5193720"/>
            <a:ext cx="43887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4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目标：兼顾微小纹理与跨尺度异常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Rounded Rectangle 17"/>
          <p:cNvSpPr/>
          <p:nvPr/>
        </p:nvSpPr>
        <p:spPr>
          <a:xfrm>
            <a:off x="6236280" y="1444680"/>
            <a:ext cx="5303160" cy="452592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Rounded Rectangle 18"/>
          <p:cNvSpPr/>
          <p:nvPr/>
        </p:nvSpPr>
        <p:spPr>
          <a:xfrm>
            <a:off x="6473880" y="1719000"/>
            <a:ext cx="1142640" cy="310680"/>
          </a:xfrm>
          <a:prstGeom prst="roundRect">
            <a:avLst>
              <a:gd name="adj" fmla="val 16667"/>
            </a:avLst>
          </a:prstGeom>
          <a:solidFill>
            <a:srgbClr val="25C2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19"/>
          <p:cNvSpPr/>
          <p:nvPr/>
        </p:nvSpPr>
        <p:spPr>
          <a:xfrm>
            <a:off x="6492240" y="1732680"/>
            <a:ext cx="11059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ctr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Dual Query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20"/>
          <p:cNvSpPr/>
          <p:nvPr/>
        </p:nvSpPr>
        <p:spPr>
          <a:xfrm>
            <a:off x="6473880" y="2167200"/>
            <a:ext cx="45259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9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Anomaly A  /  Background B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Rounded Rectangle 21"/>
          <p:cNvSpPr/>
          <p:nvPr/>
        </p:nvSpPr>
        <p:spPr>
          <a:xfrm>
            <a:off x="6565320" y="2880360"/>
            <a:ext cx="1142640" cy="658080"/>
          </a:xfrm>
          <a:prstGeom prst="roundRect">
            <a:avLst>
              <a:gd name="adj" fmla="val 16667"/>
            </a:avLst>
          </a:prstGeom>
          <a:solidFill>
            <a:srgbClr val="FF9A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TextBox 22"/>
          <p:cNvSpPr/>
          <p:nvPr/>
        </p:nvSpPr>
        <p:spPr>
          <a:xfrm>
            <a:off x="6565320" y="307224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7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A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Rounded Rectangle 23"/>
          <p:cNvSpPr/>
          <p:nvPr/>
        </p:nvSpPr>
        <p:spPr>
          <a:xfrm>
            <a:off x="10031040" y="2880360"/>
            <a:ext cx="1142640" cy="658080"/>
          </a:xfrm>
          <a:prstGeom prst="roundRect">
            <a:avLst>
              <a:gd name="adj" fmla="val 16667"/>
            </a:avLst>
          </a:prstGeom>
          <a:solidFill>
            <a:srgbClr val="61708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TextBox 24"/>
          <p:cNvSpPr/>
          <p:nvPr/>
        </p:nvSpPr>
        <p:spPr>
          <a:xfrm>
            <a:off x="10031040" y="307224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7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B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Rounded Rectangle 25"/>
          <p:cNvSpPr/>
          <p:nvPr/>
        </p:nvSpPr>
        <p:spPr>
          <a:xfrm>
            <a:off x="8028360" y="2788920"/>
            <a:ext cx="1416960" cy="84096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5" name="TextBox 26"/>
          <p:cNvSpPr/>
          <p:nvPr/>
        </p:nvSpPr>
        <p:spPr>
          <a:xfrm>
            <a:off x="8028360" y="3054240"/>
            <a:ext cx="1416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3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TEXT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96" name="Connector 27"/>
          <p:cNvCxnSpPr/>
          <p:nvPr/>
        </p:nvCxnSpPr>
        <p:spPr>
          <a:xfrm>
            <a:off x="7708320" y="3209400"/>
            <a:ext cx="320400" cy="360"/>
          </a:xfrm>
          <a:prstGeom prst="straightConnector1">
            <a:avLst/>
          </a:prstGeom>
          <a:ln>
            <a:solidFill>
              <a:srgbClr val="FF9A56"/>
            </a:solidFill>
            <a:round/>
          </a:ln>
        </p:spPr>
      </p:cxnSp>
      <p:sp>
        <p:nvSpPr>
          <p:cNvPr id="297" name="TextBox 28"/>
          <p:cNvSpPr/>
          <p:nvPr/>
        </p:nvSpPr>
        <p:spPr>
          <a:xfrm>
            <a:off x="6473880" y="4069080"/>
            <a:ext cx="44802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只有 </a:t>
            </a:r>
            <a:r>
              <a:rPr lang="en-US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A </a:t>
            </a:r>
            <a:r>
              <a:rPr lang="zh-CN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读取语言；</a:t>
            </a:r>
            <a:r>
              <a:rPr lang="en-US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A/B </a:t>
            </a:r>
            <a:r>
              <a:rPr lang="zh-CN" sz="13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再共同对视觉像素分组。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29"/>
          <p:cNvSpPr/>
          <p:nvPr/>
        </p:nvSpPr>
        <p:spPr>
          <a:xfrm>
            <a:off x="6473880" y="5193720"/>
            <a:ext cx="4571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4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目标：减少冗余 </a:t>
            </a:r>
            <a:r>
              <a:rPr lang="en-US" sz="14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query</a:t>
            </a:r>
            <a:r>
              <a:rPr lang="zh-CN" sz="14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，避免背景被文本污染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Box 30"/>
          <p:cNvSpPr/>
          <p:nvPr/>
        </p:nvSpPr>
        <p:spPr>
          <a:xfrm>
            <a:off x="502920" y="6546960"/>
            <a:ext cx="10698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来源：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RIAS §4.2–4.3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；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LMA 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使用 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r∈{1,3,5} 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平均池化，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Mask Group Transformer 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使用 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masked self-attention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Box 1"/>
          <p:cNvSpPr/>
          <p:nvPr/>
        </p:nvSpPr>
        <p:spPr>
          <a:xfrm>
            <a:off x="502920" y="2559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RESULTS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2"/>
          <p:cNvSpPr/>
          <p:nvPr/>
        </p:nvSpPr>
        <p:spPr>
          <a:xfrm>
            <a:off x="502920" y="53028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主结果领先，但测试集增益的文字与表格不一致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3"/>
          <p:cNvSpPr/>
          <p:nvPr/>
        </p:nvSpPr>
        <p:spPr>
          <a:xfrm>
            <a:off x="11201400" y="320040"/>
            <a:ext cx="456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10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03" name="Connector 4"/>
          <p:cNvCxnSpPr/>
          <p:nvPr/>
        </p:nvCxnSpPr>
        <p:spPr>
          <a:xfrm>
            <a:off x="502920" y="1115280"/>
            <a:ext cx="11183400" cy="360"/>
          </a:xfrm>
          <a:prstGeom prst="straightConnector1">
            <a:avLst/>
          </a:prstGeom>
          <a:ln w="12700">
            <a:solidFill>
              <a:srgbClr val="2C405F"/>
            </a:solidFill>
            <a:round/>
          </a:ln>
        </p:spPr>
      </p:cxnSp>
      <p:sp>
        <p:nvSpPr>
          <p:cNvPr id="304" name="Rounded Rectangle 5"/>
          <p:cNvSpPr/>
          <p:nvPr/>
        </p:nvSpPr>
        <p:spPr>
          <a:xfrm>
            <a:off x="621720" y="1353240"/>
            <a:ext cx="6674760" cy="3309840"/>
          </a:xfrm>
          <a:prstGeom prst="roundRect">
            <a:avLst>
              <a:gd name="adj" fmla="val 16667"/>
            </a:avLst>
          </a:prstGeom>
          <a:solidFill>
            <a:srgbClr val="101B2D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05" name="Picture 6" descr="main_results.png"/>
          <p:cNvPicPr/>
          <p:nvPr/>
        </p:nvPicPr>
        <p:blipFill>
          <a:blip r:embed="rId1"/>
          <a:stretch/>
        </p:blipFill>
        <p:spPr>
          <a:xfrm>
            <a:off x="649080" y="1495440"/>
            <a:ext cx="6620040" cy="3025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Rounded Rectangle 7"/>
          <p:cNvSpPr/>
          <p:nvPr/>
        </p:nvSpPr>
        <p:spPr>
          <a:xfrm>
            <a:off x="7543800" y="1353240"/>
            <a:ext cx="4050360" cy="330984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TextBox 8"/>
          <p:cNvSpPr/>
          <p:nvPr/>
        </p:nvSpPr>
        <p:spPr>
          <a:xfrm>
            <a:off x="7818120" y="1627560"/>
            <a:ext cx="12798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2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表 </a:t>
            </a:r>
            <a:r>
              <a:rPr lang="en-US" sz="12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1 </a:t>
            </a:r>
            <a:r>
              <a:rPr lang="zh-CN" sz="12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原值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9"/>
          <p:cNvSpPr/>
          <p:nvPr/>
        </p:nvSpPr>
        <p:spPr>
          <a:xfrm>
            <a:off x="7818120" y="199332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20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DQFormer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10"/>
          <p:cNvSpPr/>
          <p:nvPr/>
        </p:nvSpPr>
        <p:spPr>
          <a:xfrm>
            <a:off x="7818120" y="2487240"/>
            <a:ext cx="21942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22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67.90  mIoU</a:t>
            </a:r>
            <a:br>
              <a:rPr sz="1800"/>
            </a:br>
            <a:r>
              <a:rPr lang="en-US" sz="22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77.65  gIoU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11"/>
          <p:cNvSpPr/>
          <p:nvPr/>
        </p:nvSpPr>
        <p:spPr>
          <a:xfrm>
            <a:off x="7818120" y="3529440"/>
            <a:ext cx="320004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4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对 </a:t>
            </a:r>
            <a:r>
              <a:rPr lang="en-US" sz="14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CGFormer </a:t>
            </a:r>
            <a:r>
              <a:rPr lang="zh-CN" sz="14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的表格差值：</a:t>
            </a:r>
            <a:br>
              <a:rPr sz="1800"/>
            </a:br>
            <a:r>
              <a:rPr lang="en-US" sz="14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+4.50 mIoU / +4.16 gIoU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1" name="Rounded Rectangle 12"/>
          <p:cNvSpPr/>
          <p:nvPr/>
        </p:nvSpPr>
        <p:spPr>
          <a:xfrm>
            <a:off x="621720" y="4919400"/>
            <a:ext cx="10972440" cy="886680"/>
          </a:xfrm>
          <a:prstGeom prst="roundRect">
            <a:avLst>
              <a:gd name="adj" fmla="val 16667"/>
            </a:avLst>
          </a:prstGeom>
          <a:solidFill>
            <a:srgbClr val="101B2D"/>
          </a:solidFill>
          <a:ln w="12700">
            <a:solidFill>
              <a:srgbClr val="FF6B6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13"/>
          <p:cNvSpPr/>
          <p:nvPr/>
        </p:nvSpPr>
        <p:spPr>
          <a:xfrm>
            <a:off x="877680" y="5175360"/>
            <a:ext cx="9597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200" b="1" u="none" strike="noStrike">
                <a:solidFill>
                  <a:srgbClr val="FF6B6B"/>
                </a:solidFill>
                <a:effectLst/>
                <a:uFillTx/>
                <a:latin typeface="Noto Sans CJK SC"/>
              </a:rPr>
              <a:t>复核提醒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14"/>
          <p:cNvSpPr/>
          <p:nvPr/>
        </p:nvSpPr>
        <p:spPr>
          <a:xfrm>
            <a:off x="1828800" y="5093280"/>
            <a:ext cx="92350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摘要、正文和表 </a:t>
            </a:r>
            <a:r>
              <a:rPr lang="en-US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1 </a:t>
            </a:r>
            <a:r>
              <a:rPr lang="zh-CN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对测试集提升幅度给出不同数字；报告性能时建议引用表格原值，不引用文字增益。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Box 15"/>
          <p:cNvSpPr/>
          <p:nvPr/>
        </p:nvSpPr>
        <p:spPr>
          <a:xfrm>
            <a:off x="502920" y="6546960"/>
            <a:ext cx="10698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来源：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RIAS Table 1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；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Val 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差值 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+3.08/+3.42 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与正文一致，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Test 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差值与摘要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/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正文描述不一致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extBox 1"/>
          <p:cNvSpPr/>
          <p:nvPr/>
        </p:nvSpPr>
        <p:spPr>
          <a:xfrm>
            <a:off x="502920" y="2559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EVIDENCE &amp; BOUNDARIES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2"/>
          <p:cNvSpPr/>
          <p:nvPr/>
        </p:nvSpPr>
        <p:spPr>
          <a:xfrm>
            <a:off x="502920" y="53028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论文证明了什么？还有哪些结论不能直接推出？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3"/>
          <p:cNvSpPr/>
          <p:nvPr/>
        </p:nvSpPr>
        <p:spPr>
          <a:xfrm>
            <a:off x="11201400" y="320040"/>
            <a:ext cx="456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11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18" name="Connector 4"/>
          <p:cNvCxnSpPr/>
          <p:nvPr/>
        </p:nvCxnSpPr>
        <p:spPr>
          <a:xfrm>
            <a:off x="502920" y="1115280"/>
            <a:ext cx="11183400" cy="360"/>
          </a:xfrm>
          <a:prstGeom prst="straightConnector1">
            <a:avLst/>
          </a:prstGeom>
          <a:ln w="12700">
            <a:solidFill>
              <a:srgbClr val="2C405F"/>
            </a:solidFill>
            <a:round/>
          </a:ln>
        </p:spPr>
      </p:cxnSp>
      <p:sp>
        <p:nvSpPr>
          <p:cNvPr id="319" name="Rounded Rectangle 5"/>
          <p:cNvSpPr/>
          <p:nvPr/>
        </p:nvSpPr>
        <p:spPr>
          <a:xfrm>
            <a:off x="612720" y="1398960"/>
            <a:ext cx="5348880" cy="449856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Rounded Rectangle 6"/>
          <p:cNvSpPr/>
          <p:nvPr/>
        </p:nvSpPr>
        <p:spPr>
          <a:xfrm>
            <a:off x="859680" y="1682640"/>
            <a:ext cx="914040" cy="310680"/>
          </a:xfrm>
          <a:prstGeom prst="roundRect">
            <a:avLst>
              <a:gd name="adj" fmla="val 16667"/>
            </a:avLst>
          </a:prstGeom>
          <a:solidFill>
            <a:srgbClr val="42D6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1" name="TextBox 7"/>
          <p:cNvSpPr/>
          <p:nvPr/>
        </p:nvSpPr>
        <p:spPr>
          <a:xfrm>
            <a:off x="877680" y="1696320"/>
            <a:ext cx="877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ctr">
            <a:spAutoFit/>
          </a:bodyPr>
          <a:p>
            <a:pPr algn="ctr" defTabSz="457200">
              <a:lnSpc>
                <a:spcPct val="108000"/>
              </a:lnSpc>
            </a:pPr>
            <a:r>
              <a:rPr lang="zh-CN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已支持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8"/>
          <p:cNvSpPr/>
          <p:nvPr/>
        </p:nvSpPr>
        <p:spPr>
          <a:xfrm>
            <a:off x="868680" y="2240280"/>
            <a:ext cx="457164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7360" rIns="36720" bIns="2736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•  统一模型覆盖 </a:t>
            </a:r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MVTec-Ref </a:t>
            </a:r>
            <a:r>
              <a:rPr lang="zh-CN" sz="14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多类别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•  文本条件下直接输出细粒度掩码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•  Masked self-attn / Dual Query / LMA </a:t>
            </a:r>
            <a:r>
              <a:rPr lang="zh-CN" sz="14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均有消融收益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•  图像级 </a:t>
            </a:r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AUC 97.36</a:t>
            </a:r>
            <a:r>
              <a:rPr lang="zh-CN" sz="14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，统一设置下有竞争力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Rounded Rectangle 9"/>
          <p:cNvSpPr/>
          <p:nvPr/>
        </p:nvSpPr>
        <p:spPr>
          <a:xfrm>
            <a:off x="6236280" y="1398960"/>
            <a:ext cx="5348880" cy="449856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Rounded Rectangle 10"/>
          <p:cNvSpPr/>
          <p:nvPr/>
        </p:nvSpPr>
        <p:spPr>
          <a:xfrm>
            <a:off x="6483240" y="1682640"/>
            <a:ext cx="1115280" cy="310680"/>
          </a:xfrm>
          <a:prstGeom prst="roundRect">
            <a:avLst>
              <a:gd name="adj" fmla="val 16667"/>
            </a:avLst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5" name="TextBox 11"/>
          <p:cNvSpPr/>
          <p:nvPr/>
        </p:nvSpPr>
        <p:spPr>
          <a:xfrm>
            <a:off x="6501240" y="1696320"/>
            <a:ext cx="1078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ctr">
            <a:spAutoFit/>
          </a:bodyPr>
          <a:p>
            <a:pPr algn="ctr" defTabSz="457200">
              <a:lnSpc>
                <a:spcPct val="108000"/>
              </a:lnSpc>
            </a:pPr>
            <a:r>
              <a:rPr lang="zh-CN" sz="10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尚未证明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12"/>
          <p:cNvSpPr/>
          <p:nvPr/>
        </p:nvSpPr>
        <p:spPr>
          <a:xfrm>
            <a:off x="6492240" y="2240280"/>
            <a:ext cx="4571640" cy="260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720" tIns="27360" rIns="36720" bIns="27360" anchor="t">
            <a:spAutoFit/>
          </a:bodyPr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•  严格留出“未见缺陷</a:t>
            </a:r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/</a:t>
            </a:r>
            <a:r>
              <a:rPr lang="zh-CN" sz="14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未见产品”的开放集泛化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•  复杂、否定、错配文本下的稳健性与校准拒答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•  跨工厂 </a:t>
            </a:r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/ </a:t>
            </a:r>
            <a:r>
              <a:rPr lang="zh-CN" sz="14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跨数据集 </a:t>
            </a:r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/ </a:t>
            </a:r>
            <a:r>
              <a:rPr lang="zh-CN" sz="14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光照视角变化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8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•  代码与数据的可复现性：仓库当前仅写 </a:t>
            </a:r>
            <a:r>
              <a:rPr lang="en-US" sz="14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coming soon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Box 13"/>
          <p:cNvSpPr/>
          <p:nvPr/>
        </p:nvSpPr>
        <p:spPr>
          <a:xfrm>
            <a:off x="822960" y="6089760"/>
            <a:ext cx="10606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zh-CN" sz="12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另一个信号：像素 </a:t>
            </a:r>
            <a:r>
              <a:rPr lang="en-US" sz="12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AUC 93.13</a:t>
            </a:r>
            <a:r>
              <a:rPr lang="zh-CN" sz="12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，低于 </a:t>
            </a:r>
            <a:r>
              <a:rPr lang="en-US" sz="12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UniAD </a:t>
            </a:r>
            <a:r>
              <a:rPr lang="zh-CN" sz="12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的 </a:t>
            </a:r>
            <a:r>
              <a:rPr lang="en-US" sz="12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96.90</a:t>
            </a:r>
            <a:r>
              <a:rPr lang="zh-CN" sz="12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；语言分割优势尚未等价为传统像素异常定位优势。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14"/>
          <p:cNvSpPr/>
          <p:nvPr/>
        </p:nvSpPr>
        <p:spPr>
          <a:xfrm>
            <a:off x="502920" y="6546960"/>
            <a:ext cx="10698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来源：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RIAS Tables 2–3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；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GitHub swagger-coder/RIAS-MVTec-Ref 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于 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2026-10-20 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检查时 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README 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为“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coming soon”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Box 1"/>
          <p:cNvSpPr/>
          <p:nvPr/>
        </p:nvSpPr>
        <p:spPr>
          <a:xfrm>
            <a:off x="502920" y="2559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RESEARCH OPPORTUNITY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2"/>
          <p:cNvSpPr/>
          <p:nvPr/>
        </p:nvSpPr>
        <p:spPr>
          <a:xfrm>
            <a:off x="502920" y="53028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建议课题：面向未见缺陷的可靠文本条件异常分割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3"/>
          <p:cNvSpPr/>
          <p:nvPr/>
        </p:nvSpPr>
        <p:spPr>
          <a:xfrm>
            <a:off x="11201400" y="320040"/>
            <a:ext cx="456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12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32" name="Connector 4"/>
          <p:cNvCxnSpPr/>
          <p:nvPr/>
        </p:nvCxnSpPr>
        <p:spPr>
          <a:xfrm>
            <a:off x="502920" y="1115280"/>
            <a:ext cx="11183400" cy="360"/>
          </a:xfrm>
          <a:prstGeom prst="straightConnector1">
            <a:avLst/>
          </a:prstGeom>
          <a:ln w="12700">
            <a:solidFill>
              <a:srgbClr val="2C405F"/>
            </a:solidFill>
            <a:round/>
          </a:ln>
        </p:spPr>
      </p:cxnSp>
      <p:sp>
        <p:nvSpPr>
          <p:cNvPr id="333" name="TextBox 5"/>
          <p:cNvSpPr/>
          <p:nvPr/>
        </p:nvSpPr>
        <p:spPr>
          <a:xfrm>
            <a:off x="621720" y="139896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2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研究问题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6"/>
          <p:cNvSpPr/>
          <p:nvPr/>
        </p:nvSpPr>
        <p:spPr>
          <a:xfrm>
            <a:off x="621720" y="1755720"/>
            <a:ext cx="10926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22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同一模型能否在未见缺陷、复杂描述和 </a:t>
            </a:r>
            <a:r>
              <a:rPr lang="en-US" sz="22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no-target </a:t>
            </a:r>
            <a:r>
              <a:rPr lang="zh-CN" sz="22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请求下，仍准确定位微小异常？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Rounded Rectangle 7"/>
          <p:cNvSpPr/>
          <p:nvPr/>
        </p:nvSpPr>
        <p:spPr>
          <a:xfrm>
            <a:off x="621720" y="2743200"/>
            <a:ext cx="1992960" cy="190152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Rounded Rectangle 8"/>
          <p:cNvSpPr/>
          <p:nvPr/>
        </p:nvSpPr>
        <p:spPr>
          <a:xfrm>
            <a:off x="804600" y="2971800"/>
            <a:ext cx="475200" cy="47520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7" name="TextBox 9"/>
          <p:cNvSpPr/>
          <p:nvPr/>
        </p:nvSpPr>
        <p:spPr>
          <a:xfrm>
            <a:off x="804600" y="30906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1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10"/>
          <p:cNvSpPr/>
          <p:nvPr/>
        </p:nvSpPr>
        <p:spPr>
          <a:xfrm>
            <a:off x="804600" y="3657600"/>
            <a:ext cx="159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未见缺陷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11"/>
          <p:cNvSpPr/>
          <p:nvPr/>
        </p:nvSpPr>
        <p:spPr>
          <a:xfrm>
            <a:off x="804600" y="4069080"/>
            <a:ext cx="1599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严格 </a:t>
            </a:r>
            <a:r>
              <a:rPr lang="en-US" sz="11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leave-defect-out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Rounded Rectangle 12"/>
          <p:cNvSpPr/>
          <p:nvPr/>
        </p:nvSpPr>
        <p:spPr>
          <a:xfrm>
            <a:off x="2907720" y="2743200"/>
            <a:ext cx="1992960" cy="190152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Rounded Rectangle 13"/>
          <p:cNvSpPr/>
          <p:nvPr/>
        </p:nvSpPr>
        <p:spPr>
          <a:xfrm>
            <a:off x="3090600" y="2971800"/>
            <a:ext cx="475200" cy="475200"/>
          </a:xfrm>
          <a:prstGeom prst="roundRect">
            <a:avLst>
              <a:gd name="adj" fmla="val 16667"/>
            </a:avLst>
          </a:prstGeom>
          <a:solidFill>
            <a:srgbClr val="25C2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TextBox 14"/>
          <p:cNvSpPr/>
          <p:nvPr/>
        </p:nvSpPr>
        <p:spPr>
          <a:xfrm>
            <a:off x="3090600" y="30906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1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15"/>
          <p:cNvSpPr/>
          <p:nvPr/>
        </p:nvSpPr>
        <p:spPr>
          <a:xfrm>
            <a:off x="3090600" y="3657600"/>
            <a:ext cx="159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复杂文本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16"/>
          <p:cNvSpPr/>
          <p:nvPr/>
        </p:nvSpPr>
        <p:spPr>
          <a:xfrm>
            <a:off x="3090600" y="4069080"/>
            <a:ext cx="1599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属性 </a:t>
            </a:r>
            <a:r>
              <a:rPr lang="en-US" sz="11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/ </a:t>
            </a:r>
            <a:r>
              <a:rPr lang="zh-CN" sz="11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空间 </a:t>
            </a:r>
            <a:r>
              <a:rPr lang="en-US" sz="11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/ </a:t>
            </a:r>
            <a:r>
              <a:rPr lang="zh-CN" sz="11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否定 </a:t>
            </a:r>
            <a:r>
              <a:rPr lang="en-US" sz="11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/ </a:t>
            </a:r>
            <a:r>
              <a:rPr lang="zh-CN" sz="11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同义改写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Rounded Rectangle 17"/>
          <p:cNvSpPr/>
          <p:nvPr/>
        </p:nvSpPr>
        <p:spPr>
          <a:xfrm>
            <a:off x="5193720" y="2743200"/>
            <a:ext cx="1992960" cy="190152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6" name="Rounded Rectangle 18"/>
          <p:cNvSpPr/>
          <p:nvPr/>
        </p:nvSpPr>
        <p:spPr>
          <a:xfrm>
            <a:off x="5376600" y="2971800"/>
            <a:ext cx="475200" cy="475200"/>
          </a:xfrm>
          <a:prstGeom prst="roundRect">
            <a:avLst>
              <a:gd name="adj" fmla="val 16667"/>
            </a:avLst>
          </a:prstGeom>
          <a:solidFill>
            <a:srgbClr val="FF9A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7" name="TextBox 19"/>
          <p:cNvSpPr/>
          <p:nvPr/>
        </p:nvSpPr>
        <p:spPr>
          <a:xfrm>
            <a:off x="5376600" y="30906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1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Box 20"/>
          <p:cNvSpPr/>
          <p:nvPr/>
        </p:nvSpPr>
        <p:spPr>
          <a:xfrm>
            <a:off x="5376600" y="3657600"/>
            <a:ext cx="159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小目标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21"/>
          <p:cNvSpPr/>
          <p:nvPr/>
        </p:nvSpPr>
        <p:spPr>
          <a:xfrm>
            <a:off x="5376600" y="4069080"/>
            <a:ext cx="1599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按 </a:t>
            </a:r>
            <a:r>
              <a:rPr lang="en-US" sz="11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mask </a:t>
            </a:r>
            <a:r>
              <a:rPr lang="zh-CN" sz="11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面积分桶评测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Rounded Rectangle 22"/>
          <p:cNvSpPr/>
          <p:nvPr/>
        </p:nvSpPr>
        <p:spPr>
          <a:xfrm>
            <a:off x="7479720" y="2743200"/>
            <a:ext cx="1992960" cy="190152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Rounded Rectangle 23"/>
          <p:cNvSpPr/>
          <p:nvPr/>
        </p:nvSpPr>
        <p:spPr>
          <a:xfrm>
            <a:off x="7662600" y="2971800"/>
            <a:ext cx="475200" cy="475200"/>
          </a:xfrm>
          <a:prstGeom prst="roundRect">
            <a:avLst>
              <a:gd name="adj" fmla="val 16667"/>
            </a:avLst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2" name="TextBox 24"/>
          <p:cNvSpPr/>
          <p:nvPr/>
        </p:nvSpPr>
        <p:spPr>
          <a:xfrm>
            <a:off x="7662600" y="30906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1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Box 25"/>
          <p:cNvSpPr/>
          <p:nvPr/>
        </p:nvSpPr>
        <p:spPr>
          <a:xfrm>
            <a:off x="7662600" y="3657600"/>
            <a:ext cx="159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正确拒答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Box 26"/>
          <p:cNvSpPr/>
          <p:nvPr/>
        </p:nvSpPr>
        <p:spPr>
          <a:xfrm>
            <a:off x="7662600" y="4069080"/>
            <a:ext cx="1599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描述不匹配时输出空掩码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Rounded Rectangle 27"/>
          <p:cNvSpPr/>
          <p:nvPr/>
        </p:nvSpPr>
        <p:spPr>
          <a:xfrm>
            <a:off x="9765720" y="2743200"/>
            <a:ext cx="1992960" cy="190152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6" name="Rounded Rectangle 28"/>
          <p:cNvSpPr/>
          <p:nvPr/>
        </p:nvSpPr>
        <p:spPr>
          <a:xfrm>
            <a:off x="9948600" y="2971800"/>
            <a:ext cx="475200" cy="475200"/>
          </a:xfrm>
          <a:prstGeom prst="roundRect">
            <a:avLst>
              <a:gd name="adj" fmla="val 16667"/>
            </a:avLst>
          </a:prstGeom>
          <a:solidFill>
            <a:srgbClr val="42D6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TextBox 29"/>
          <p:cNvSpPr/>
          <p:nvPr/>
        </p:nvSpPr>
        <p:spPr>
          <a:xfrm>
            <a:off x="9948600" y="3090600"/>
            <a:ext cx="4752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1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30"/>
          <p:cNvSpPr/>
          <p:nvPr/>
        </p:nvSpPr>
        <p:spPr>
          <a:xfrm>
            <a:off x="9948600" y="3657600"/>
            <a:ext cx="1599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跨域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Box 31"/>
          <p:cNvSpPr/>
          <p:nvPr/>
        </p:nvSpPr>
        <p:spPr>
          <a:xfrm>
            <a:off x="9948600" y="4069080"/>
            <a:ext cx="1599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产品 </a:t>
            </a:r>
            <a:r>
              <a:rPr lang="en-US" sz="11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/ </a:t>
            </a:r>
            <a:r>
              <a:rPr lang="zh-CN" sz="11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相机 </a:t>
            </a:r>
            <a:r>
              <a:rPr lang="en-US" sz="11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/ </a:t>
            </a:r>
            <a:r>
              <a:rPr lang="zh-CN" sz="11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光照变化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Rounded Rectangle 32"/>
          <p:cNvSpPr/>
          <p:nvPr/>
        </p:nvSpPr>
        <p:spPr>
          <a:xfrm>
            <a:off x="621720" y="5074920"/>
            <a:ext cx="10972440" cy="895680"/>
          </a:xfrm>
          <a:prstGeom prst="roundRect">
            <a:avLst>
              <a:gd name="adj" fmla="val 16667"/>
            </a:avLst>
          </a:prstGeom>
          <a:solidFill>
            <a:srgbClr val="101B2D"/>
          </a:solidFill>
          <a:ln w="12700">
            <a:solidFill>
              <a:srgbClr val="25C2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1" name="TextBox 33"/>
          <p:cNvSpPr/>
          <p:nvPr/>
        </p:nvSpPr>
        <p:spPr>
          <a:xfrm>
            <a:off x="877680" y="5330880"/>
            <a:ext cx="10238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2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核心假设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34"/>
          <p:cNvSpPr/>
          <p:nvPr/>
        </p:nvSpPr>
        <p:spPr>
          <a:xfrm>
            <a:off x="1901880" y="5239440"/>
            <a:ext cx="90522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正常参考图像 </a:t>
            </a:r>
            <a:r>
              <a:rPr lang="en-US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+ </a:t>
            </a:r>
            <a:r>
              <a:rPr lang="zh-CN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局部</a:t>
            </a:r>
            <a:r>
              <a:rPr lang="en-US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/</a:t>
            </a:r>
            <a:r>
              <a:rPr lang="zh-CN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全局一致性 </a:t>
            </a:r>
            <a:r>
              <a:rPr lang="en-US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+ prompt consistency</a:t>
            </a:r>
            <a:r>
              <a:rPr lang="zh-CN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，可同时降低漏检与语言诱导误报。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35"/>
          <p:cNvSpPr/>
          <p:nvPr/>
        </p:nvSpPr>
        <p:spPr>
          <a:xfrm>
            <a:off x="502920" y="6546960"/>
            <a:ext cx="10698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研究设想：由 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RIAS 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尚未覆盖的失败模式推导；不属于原论文结论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Box 1"/>
          <p:cNvSpPr/>
          <p:nvPr/>
        </p:nvSpPr>
        <p:spPr>
          <a:xfrm>
            <a:off x="502920" y="2559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EXPERIMENTAL PLAN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2"/>
          <p:cNvSpPr/>
          <p:nvPr/>
        </p:nvSpPr>
        <p:spPr>
          <a:xfrm>
            <a:off x="502920" y="53028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最小可发表实验：先建立可信评测，再改一个失败模式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3"/>
          <p:cNvSpPr/>
          <p:nvPr/>
        </p:nvSpPr>
        <p:spPr>
          <a:xfrm>
            <a:off x="11201400" y="320040"/>
            <a:ext cx="456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13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67" name="Connector 4"/>
          <p:cNvCxnSpPr/>
          <p:nvPr/>
        </p:nvCxnSpPr>
        <p:spPr>
          <a:xfrm>
            <a:off x="502920" y="1115280"/>
            <a:ext cx="11183400" cy="360"/>
          </a:xfrm>
          <a:prstGeom prst="straightConnector1">
            <a:avLst/>
          </a:prstGeom>
          <a:ln w="12700">
            <a:solidFill>
              <a:srgbClr val="2C405F"/>
            </a:solidFill>
            <a:round/>
          </a:ln>
        </p:spPr>
      </p:cxnSp>
      <p:sp>
        <p:nvSpPr>
          <p:cNvPr id="368" name="Rounded Rectangle 5"/>
          <p:cNvSpPr/>
          <p:nvPr/>
        </p:nvSpPr>
        <p:spPr>
          <a:xfrm>
            <a:off x="612720" y="1572840"/>
            <a:ext cx="2450160" cy="306288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9" name="Rounded Rectangle 6"/>
          <p:cNvSpPr/>
          <p:nvPr/>
        </p:nvSpPr>
        <p:spPr>
          <a:xfrm>
            <a:off x="813960" y="1810440"/>
            <a:ext cx="529920" cy="529920"/>
          </a:xfrm>
          <a:prstGeom prst="roundRect">
            <a:avLst>
              <a:gd name="adj" fmla="val 16667"/>
            </a:avLst>
          </a:prstGeom>
          <a:solidFill>
            <a:srgbClr val="25C2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TextBox 7"/>
          <p:cNvSpPr/>
          <p:nvPr/>
        </p:nvSpPr>
        <p:spPr>
          <a:xfrm>
            <a:off x="813960" y="1947600"/>
            <a:ext cx="529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2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Box 8"/>
          <p:cNvSpPr/>
          <p:nvPr/>
        </p:nvSpPr>
        <p:spPr>
          <a:xfrm>
            <a:off x="813960" y="2578680"/>
            <a:ext cx="1965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8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基线审计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Box 9"/>
          <p:cNvSpPr/>
          <p:nvPr/>
        </p:nvSpPr>
        <p:spPr>
          <a:xfrm>
            <a:off x="813960" y="3136320"/>
            <a:ext cx="1938240" cy="8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复核数据划分与评测脚本</a:t>
            </a:r>
            <a:br>
              <a:rPr sz="1800"/>
            </a:br>
            <a:r>
              <a:rPr lang="en-US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RIAS / CGFormer / CLIP</a:t>
            </a:r>
            <a:r>
              <a:rPr lang="zh-CN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类基线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73" name="Connector 10"/>
          <p:cNvCxnSpPr/>
          <p:nvPr/>
        </p:nvCxnSpPr>
        <p:spPr>
          <a:xfrm>
            <a:off x="3072240" y="3126960"/>
            <a:ext cx="302040" cy="360"/>
          </a:xfrm>
          <a:prstGeom prst="straightConnector1">
            <a:avLst/>
          </a:prstGeom>
          <a:ln w="19050">
            <a:solidFill>
              <a:srgbClr val="25C2D9"/>
            </a:solidFill>
            <a:round/>
          </a:ln>
        </p:spPr>
      </p:cxnSp>
      <p:sp>
        <p:nvSpPr>
          <p:cNvPr id="374" name="Rounded Rectangle 11"/>
          <p:cNvSpPr/>
          <p:nvPr/>
        </p:nvSpPr>
        <p:spPr>
          <a:xfrm>
            <a:off x="3429000" y="1572840"/>
            <a:ext cx="2450160" cy="306288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Rounded Rectangle 12"/>
          <p:cNvSpPr/>
          <p:nvPr/>
        </p:nvSpPr>
        <p:spPr>
          <a:xfrm>
            <a:off x="3630240" y="1810440"/>
            <a:ext cx="529920" cy="529920"/>
          </a:xfrm>
          <a:prstGeom prst="roundRect">
            <a:avLst>
              <a:gd name="adj" fmla="val 16667"/>
            </a:avLst>
          </a:prstGeom>
          <a:solidFill>
            <a:srgbClr val="FF9A5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6" name="TextBox 13"/>
          <p:cNvSpPr/>
          <p:nvPr/>
        </p:nvSpPr>
        <p:spPr>
          <a:xfrm>
            <a:off x="3630240" y="1947600"/>
            <a:ext cx="529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2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B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14"/>
          <p:cNvSpPr/>
          <p:nvPr/>
        </p:nvSpPr>
        <p:spPr>
          <a:xfrm>
            <a:off x="3630240" y="2578680"/>
            <a:ext cx="1965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8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压力测试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Box 15"/>
          <p:cNvSpPr/>
          <p:nvPr/>
        </p:nvSpPr>
        <p:spPr>
          <a:xfrm>
            <a:off x="3630240" y="3136320"/>
            <a:ext cx="1938240" cy="8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文本改写、否定、错配</a:t>
            </a:r>
            <a:br>
              <a:rPr sz="1800"/>
            </a:br>
            <a:r>
              <a:rPr lang="en-US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mask </a:t>
            </a:r>
            <a:r>
              <a:rPr lang="zh-CN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面积分桶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79" name="Connector 16"/>
          <p:cNvCxnSpPr/>
          <p:nvPr/>
        </p:nvCxnSpPr>
        <p:spPr>
          <a:xfrm>
            <a:off x="5888520" y="3126960"/>
            <a:ext cx="302040" cy="360"/>
          </a:xfrm>
          <a:prstGeom prst="straightConnector1">
            <a:avLst/>
          </a:prstGeom>
          <a:ln w="19050">
            <a:solidFill>
              <a:srgbClr val="25C2D9"/>
            </a:solidFill>
            <a:round/>
          </a:ln>
        </p:spPr>
      </p:cxnSp>
      <p:sp>
        <p:nvSpPr>
          <p:cNvPr id="380" name="Rounded Rectangle 17"/>
          <p:cNvSpPr/>
          <p:nvPr/>
        </p:nvSpPr>
        <p:spPr>
          <a:xfrm>
            <a:off x="6245280" y="1572840"/>
            <a:ext cx="2450160" cy="306288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Rounded Rectangle 18"/>
          <p:cNvSpPr/>
          <p:nvPr/>
        </p:nvSpPr>
        <p:spPr>
          <a:xfrm>
            <a:off x="6446520" y="1810440"/>
            <a:ext cx="529920" cy="529920"/>
          </a:xfrm>
          <a:prstGeom prst="roundRect">
            <a:avLst>
              <a:gd name="adj" fmla="val 16667"/>
            </a:avLst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TextBox 19"/>
          <p:cNvSpPr/>
          <p:nvPr/>
        </p:nvSpPr>
        <p:spPr>
          <a:xfrm>
            <a:off x="6446520" y="1947600"/>
            <a:ext cx="529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2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C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20"/>
          <p:cNvSpPr/>
          <p:nvPr/>
        </p:nvSpPr>
        <p:spPr>
          <a:xfrm>
            <a:off x="6446520" y="2578680"/>
            <a:ext cx="1965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8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开放集划分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21"/>
          <p:cNvSpPr/>
          <p:nvPr/>
        </p:nvSpPr>
        <p:spPr>
          <a:xfrm>
            <a:off x="6446520" y="3136320"/>
            <a:ext cx="1938240" cy="8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leave-defect-out</a:t>
            </a:r>
            <a:br>
              <a:rPr sz="1800"/>
            </a:br>
            <a:r>
              <a:rPr lang="en-US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leave-product-out / cross-domain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85" name="Connector 22"/>
          <p:cNvCxnSpPr/>
          <p:nvPr/>
        </p:nvCxnSpPr>
        <p:spPr>
          <a:xfrm>
            <a:off x="8704800" y="3126960"/>
            <a:ext cx="302400" cy="360"/>
          </a:xfrm>
          <a:prstGeom prst="straightConnector1">
            <a:avLst/>
          </a:prstGeom>
          <a:ln w="19050">
            <a:solidFill>
              <a:srgbClr val="25C2D9"/>
            </a:solidFill>
            <a:round/>
          </a:ln>
        </p:spPr>
      </p:cxnSp>
      <p:sp>
        <p:nvSpPr>
          <p:cNvPr id="386" name="Rounded Rectangle 23"/>
          <p:cNvSpPr/>
          <p:nvPr/>
        </p:nvSpPr>
        <p:spPr>
          <a:xfrm>
            <a:off x="9061560" y="1572840"/>
            <a:ext cx="2450160" cy="306288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Rounded Rectangle 24"/>
          <p:cNvSpPr/>
          <p:nvPr/>
        </p:nvSpPr>
        <p:spPr>
          <a:xfrm>
            <a:off x="9262800" y="1810440"/>
            <a:ext cx="529920" cy="529920"/>
          </a:xfrm>
          <a:prstGeom prst="roundRect">
            <a:avLst>
              <a:gd name="adj" fmla="val 16667"/>
            </a:avLst>
          </a:prstGeom>
          <a:solidFill>
            <a:srgbClr val="42D6A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8" name="TextBox 25"/>
          <p:cNvSpPr/>
          <p:nvPr/>
        </p:nvSpPr>
        <p:spPr>
          <a:xfrm>
            <a:off x="9262800" y="1947600"/>
            <a:ext cx="5299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12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26"/>
          <p:cNvSpPr/>
          <p:nvPr/>
        </p:nvSpPr>
        <p:spPr>
          <a:xfrm>
            <a:off x="9262800" y="2578680"/>
            <a:ext cx="1965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8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针对性方法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Box 27"/>
          <p:cNvSpPr/>
          <p:nvPr/>
        </p:nvSpPr>
        <p:spPr>
          <a:xfrm>
            <a:off x="9262800" y="3136320"/>
            <a:ext cx="1938240" cy="8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只解决一个稳定失败</a:t>
            </a:r>
            <a:br>
              <a:rPr sz="1800"/>
            </a:br>
            <a:r>
              <a:rPr lang="zh-CN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消融 </a:t>
            </a:r>
            <a:r>
              <a:rPr lang="en-US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+ </a:t>
            </a:r>
            <a:r>
              <a:rPr lang="zh-CN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速度 </a:t>
            </a:r>
            <a:r>
              <a:rPr lang="en-US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+ </a:t>
            </a:r>
            <a:r>
              <a:rPr lang="zh-CN" sz="12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可视化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Rounded Rectangle 28"/>
          <p:cNvSpPr/>
          <p:nvPr/>
        </p:nvSpPr>
        <p:spPr>
          <a:xfrm>
            <a:off x="612720" y="4983480"/>
            <a:ext cx="10972440" cy="968760"/>
          </a:xfrm>
          <a:prstGeom prst="roundRect">
            <a:avLst>
              <a:gd name="adj" fmla="val 16667"/>
            </a:avLst>
          </a:prstGeom>
          <a:solidFill>
            <a:srgbClr val="101B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2" name="TextBox 29"/>
          <p:cNvSpPr/>
          <p:nvPr/>
        </p:nvSpPr>
        <p:spPr>
          <a:xfrm>
            <a:off x="850320" y="5239440"/>
            <a:ext cx="6580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2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指标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30"/>
          <p:cNvSpPr/>
          <p:nvPr/>
        </p:nvSpPr>
        <p:spPr>
          <a:xfrm>
            <a:off x="1508760" y="5157360"/>
            <a:ext cx="9463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mIoU / gIoU + no-target FPR + prompt consistency + </a:t>
            </a:r>
            <a:r>
              <a:rPr lang="zh-CN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小目标分桶 </a:t>
            </a:r>
            <a:r>
              <a:rPr lang="en-US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+ </a:t>
            </a:r>
            <a:r>
              <a:rPr lang="zh-CN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跨域性能下降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31"/>
          <p:cNvSpPr/>
          <p:nvPr/>
        </p:nvSpPr>
        <p:spPr>
          <a:xfrm>
            <a:off x="502920" y="6546960"/>
            <a:ext cx="10698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实际启动前置条件：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MVTec-Ref 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数据与代码正式公开；若仍未公开，先用公开 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MVTec-AD 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构造受控评测原型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TextBox 1"/>
          <p:cNvSpPr/>
          <p:nvPr/>
        </p:nvSpPr>
        <p:spPr>
          <a:xfrm>
            <a:off x="502920" y="2559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TAKE-HOME MESSAGES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2"/>
          <p:cNvSpPr/>
          <p:nvPr/>
        </p:nvSpPr>
        <p:spPr>
          <a:xfrm>
            <a:off x="502920" y="53028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带走三句话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3"/>
          <p:cNvSpPr/>
          <p:nvPr/>
        </p:nvSpPr>
        <p:spPr>
          <a:xfrm>
            <a:off x="11201400" y="320040"/>
            <a:ext cx="456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14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98" name="Connector 4"/>
          <p:cNvCxnSpPr/>
          <p:nvPr/>
        </p:nvCxnSpPr>
        <p:spPr>
          <a:xfrm>
            <a:off x="502920" y="1115280"/>
            <a:ext cx="11183400" cy="360"/>
          </a:xfrm>
          <a:prstGeom prst="straightConnector1">
            <a:avLst/>
          </a:prstGeom>
          <a:ln w="12700">
            <a:solidFill>
              <a:srgbClr val="2C405F"/>
            </a:solidFill>
            <a:round/>
          </a:ln>
        </p:spPr>
      </p:cxnSp>
      <p:sp>
        <p:nvSpPr>
          <p:cNvPr id="399" name="TextBox 5"/>
          <p:cNvSpPr/>
          <p:nvPr/>
        </p:nvSpPr>
        <p:spPr>
          <a:xfrm>
            <a:off x="658440" y="1481400"/>
            <a:ext cx="594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4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01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6"/>
          <p:cNvSpPr/>
          <p:nvPr/>
        </p:nvSpPr>
        <p:spPr>
          <a:xfrm>
            <a:off x="1417320" y="1481400"/>
            <a:ext cx="914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7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方向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7"/>
          <p:cNvSpPr/>
          <p:nvPr/>
        </p:nvSpPr>
        <p:spPr>
          <a:xfrm>
            <a:off x="2487240" y="1481400"/>
            <a:ext cx="86407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6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工业异常检测提供清晰任务；视觉语言提供开放描述、交互定位和可解释接口。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02" name="Connector 8"/>
          <p:cNvCxnSpPr/>
          <p:nvPr/>
        </p:nvCxnSpPr>
        <p:spPr>
          <a:xfrm>
            <a:off x="658080" y="2304000"/>
            <a:ext cx="10680840" cy="360"/>
          </a:xfrm>
          <a:prstGeom prst="straightConnector1">
            <a:avLst/>
          </a:prstGeom>
          <a:ln w="12700">
            <a:solidFill>
              <a:srgbClr val="2C405F"/>
            </a:solidFill>
            <a:round/>
          </a:ln>
        </p:spPr>
      </p:cxnSp>
      <p:sp>
        <p:nvSpPr>
          <p:cNvPr id="403" name="TextBox 9"/>
          <p:cNvSpPr/>
          <p:nvPr/>
        </p:nvSpPr>
        <p:spPr>
          <a:xfrm>
            <a:off x="658440" y="2871360"/>
            <a:ext cx="594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4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02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10"/>
          <p:cNvSpPr/>
          <p:nvPr/>
        </p:nvSpPr>
        <p:spPr>
          <a:xfrm>
            <a:off x="1417320" y="2871360"/>
            <a:ext cx="914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7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论文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11"/>
          <p:cNvSpPr/>
          <p:nvPr/>
        </p:nvSpPr>
        <p:spPr>
          <a:xfrm>
            <a:off x="2487240" y="2871360"/>
            <a:ext cx="86407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6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RIAS </a:t>
            </a:r>
            <a:r>
              <a:rPr lang="zh-CN" sz="16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建立了文本指代工业异常分割，但“真正开放集”和可靠拒答仍未被充分验证。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06" name="Connector 12"/>
          <p:cNvCxnSpPr/>
          <p:nvPr/>
        </p:nvCxnSpPr>
        <p:spPr>
          <a:xfrm>
            <a:off x="658080" y="3693960"/>
            <a:ext cx="10680840" cy="360"/>
          </a:xfrm>
          <a:prstGeom prst="straightConnector1">
            <a:avLst/>
          </a:prstGeom>
          <a:ln w="12700">
            <a:solidFill>
              <a:srgbClr val="2C405F"/>
            </a:solidFill>
            <a:round/>
          </a:ln>
        </p:spPr>
      </p:cxnSp>
      <p:sp>
        <p:nvSpPr>
          <p:cNvPr id="407" name="TextBox 13"/>
          <p:cNvSpPr/>
          <p:nvPr/>
        </p:nvSpPr>
        <p:spPr>
          <a:xfrm>
            <a:off x="658440" y="4260960"/>
            <a:ext cx="5940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400" b="1" u="none" strike="noStrike">
                <a:solidFill>
                  <a:srgbClr val="42D6A4"/>
                </a:solidFill>
                <a:effectLst/>
                <a:uFillTx/>
                <a:latin typeface="Noto Sans CJK SC"/>
              </a:rPr>
              <a:t>03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14"/>
          <p:cNvSpPr/>
          <p:nvPr/>
        </p:nvSpPr>
        <p:spPr>
          <a:xfrm>
            <a:off x="1417320" y="4260960"/>
            <a:ext cx="9140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7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下一步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15"/>
          <p:cNvSpPr/>
          <p:nvPr/>
        </p:nvSpPr>
        <p:spPr>
          <a:xfrm>
            <a:off x="2487240" y="4260960"/>
            <a:ext cx="864072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6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优先做未见缺陷 </a:t>
            </a:r>
            <a:r>
              <a:rPr lang="en-US" sz="16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× </a:t>
            </a:r>
            <a:r>
              <a:rPr lang="zh-CN" sz="16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复杂文本 </a:t>
            </a:r>
            <a:r>
              <a:rPr lang="en-US" sz="16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× </a:t>
            </a:r>
            <a:r>
              <a:rPr lang="zh-CN" sz="16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小目标 </a:t>
            </a:r>
            <a:r>
              <a:rPr lang="en-US" sz="16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× no-target </a:t>
            </a:r>
            <a:r>
              <a:rPr lang="zh-CN" sz="16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的评测与针对性改进。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10" name="Connector 16"/>
          <p:cNvCxnSpPr/>
          <p:nvPr/>
        </p:nvCxnSpPr>
        <p:spPr>
          <a:xfrm>
            <a:off x="658080" y="5083920"/>
            <a:ext cx="10680840" cy="360"/>
          </a:xfrm>
          <a:prstGeom prst="straightConnector1">
            <a:avLst/>
          </a:prstGeom>
          <a:ln w="12700">
            <a:solidFill>
              <a:srgbClr val="2C405F"/>
            </a:solidFill>
            <a:round/>
          </a:ln>
        </p:spPr>
      </p:cxnSp>
      <p:sp>
        <p:nvSpPr>
          <p:cNvPr id="411" name="Rounded Rectangle 17"/>
          <p:cNvSpPr/>
          <p:nvPr/>
        </p:nvSpPr>
        <p:spPr>
          <a:xfrm>
            <a:off x="658440" y="5669280"/>
            <a:ext cx="10698120" cy="62136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5C2D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2" name="TextBox 18"/>
          <p:cNvSpPr/>
          <p:nvPr/>
        </p:nvSpPr>
        <p:spPr>
          <a:xfrm>
            <a:off x="960120" y="5852160"/>
            <a:ext cx="10058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zh-CN" sz="1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建议讨论：先做“语言稳健性评测”还是“未见类别泛化”？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Box 19"/>
          <p:cNvSpPr/>
          <p:nvPr/>
        </p:nvSpPr>
        <p:spPr>
          <a:xfrm>
            <a:off x="502920" y="6546960"/>
            <a:ext cx="10698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Q&amp;A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extBox 1"/>
          <p:cNvSpPr/>
          <p:nvPr/>
        </p:nvSpPr>
        <p:spPr>
          <a:xfrm>
            <a:off x="502920" y="2559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BACKUP · READING MAP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2"/>
          <p:cNvSpPr/>
          <p:nvPr/>
        </p:nvSpPr>
        <p:spPr>
          <a:xfrm>
            <a:off x="502920" y="53028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2026 </a:t>
            </a:r>
            <a:r>
              <a:rPr lang="zh-CN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候选阅读图谱：按研究问题选，不按榜单追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3"/>
          <p:cNvSpPr/>
          <p:nvPr/>
        </p:nvSpPr>
        <p:spPr>
          <a:xfrm>
            <a:off x="11201400" y="320040"/>
            <a:ext cx="456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15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17" name="Connector 4"/>
          <p:cNvCxnSpPr/>
          <p:nvPr/>
        </p:nvCxnSpPr>
        <p:spPr>
          <a:xfrm>
            <a:off x="502920" y="1115280"/>
            <a:ext cx="11183400" cy="360"/>
          </a:xfrm>
          <a:prstGeom prst="straightConnector1">
            <a:avLst/>
          </a:prstGeom>
          <a:ln w="12700">
            <a:solidFill>
              <a:srgbClr val="2C405F"/>
            </a:solidFill>
            <a:round/>
          </a:ln>
        </p:spPr>
      </p:cxnSp>
      <p:sp>
        <p:nvSpPr>
          <p:cNvPr id="418" name="Rectangle 5"/>
          <p:cNvSpPr/>
          <p:nvPr/>
        </p:nvSpPr>
        <p:spPr>
          <a:xfrm>
            <a:off x="640080" y="1417320"/>
            <a:ext cx="2194200" cy="475200"/>
          </a:xfrm>
          <a:prstGeom prst="rect">
            <a:avLst/>
          </a:prstGeom>
          <a:solidFill>
            <a:srgbClr val="25C2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9" name="TextBox 6"/>
          <p:cNvSpPr/>
          <p:nvPr/>
        </p:nvSpPr>
        <p:spPr>
          <a:xfrm>
            <a:off x="640080" y="1545480"/>
            <a:ext cx="21942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zh-CN" sz="11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问题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Rectangle 7"/>
          <p:cNvSpPr/>
          <p:nvPr/>
        </p:nvSpPr>
        <p:spPr>
          <a:xfrm>
            <a:off x="2999160" y="1417320"/>
            <a:ext cx="2925720" cy="475200"/>
          </a:xfrm>
          <a:prstGeom prst="rect">
            <a:avLst/>
          </a:prstGeom>
          <a:solidFill>
            <a:srgbClr val="25C2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TextBox 8"/>
          <p:cNvSpPr/>
          <p:nvPr/>
        </p:nvSpPr>
        <p:spPr>
          <a:xfrm>
            <a:off x="2999160" y="1545480"/>
            <a:ext cx="29257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zh-CN" sz="11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代表工作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Rectangle 9"/>
          <p:cNvSpPr/>
          <p:nvPr/>
        </p:nvSpPr>
        <p:spPr>
          <a:xfrm>
            <a:off x="6080760" y="1417320"/>
            <a:ext cx="3318840" cy="475200"/>
          </a:xfrm>
          <a:prstGeom prst="rect">
            <a:avLst/>
          </a:prstGeom>
          <a:solidFill>
            <a:srgbClr val="25C2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3" name="TextBox 10"/>
          <p:cNvSpPr/>
          <p:nvPr/>
        </p:nvSpPr>
        <p:spPr>
          <a:xfrm>
            <a:off x="6080760" y="1545480"/>
            <a:ext cx="3318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zh-CN" sz="11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阅读时要回答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4" name="Rectangle 11"/>
          <p:cNvSpPr/>
          <p:nvPr/>
        </p:nvSpPr>
        <p:spPr>
          <a:xfrm>
            <a:off x="9555480" y="1417320"/>
            <a:ext cx="1371240" cy="475200"/>
          </a:xfrm>
          <a:prstGeom prst="rect">
            <a:avLst/>
          </a:prstGeom>
          <a:solidFill>
            <a:srgbClr val="25C2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5" name="TextBox 12"/>
          <p:cNvSpPr/>
          <p:nvPr/>
        </p:nvSpPr>
        <p:spPr>
          <a:xfrm>
            <a:off x="9555480" y="1545480"/>
            <a:ext cx="13712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zh-CN" sz="11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优先级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Rectangle 13"/>
          <p:cNvSpPr/>
          <p:nvPr/>
        </p:nvSpPr>
        <p:spPr>
          <a:xfrm>
            <a:off x="640080" y="1901880"/>
            <a:ext cx="2194200" cy="621360"/>
          </a:xfrm>
          <a:prstGeom prst="rect">
            <a:avLst/>
          </a:prstGeom>
          <a:solidFill>
            <a:srgbClr val="162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7" name="TextBox 14"/>
          <p:cNvSpPr/>
          <p:nvPr/>
        </p:nvSpPr>
        <p:spPr>
          <a:xfrm>
            <a:off x="713160" y="2048400"/>
            <a:ext cx="2048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语言指代分割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Rectangle 15"/>
          <p:cNvSpPr/>
          <p:nvPr/>
        </p:nvSpPr>
        <p:spPr>
          <a:xfrm>
            <a:off x="2999160" y="1901880"/>
            <a:ext cx="2925720" cy="621360"/>
          </a:xfrm>
          <a:prstGeom prst="rect">
            <a:avLst/>
          </a:prstGeom>
          <a:solidFill>
            <a:srgbClr val="162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9" name="TextBox 16"/>
          <p:cNvSpPr/>
          <p:nvPr/>
        </p:nvSpPr>
        <p:spPr>
          <a:xfrm>
            <a:off x="3072240" y="2048400"/>
            <a:ext cx="277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1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RIAS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Rectangle 17"/>
          <p:cNvSpPr/>
          <p:nvPr/>
        </p:nvSpPr>
        <p:spPr>
          <a:xfrm>
            <a:off x="6080760" y="1901880"/>
            <a:ext cx="3318840" cy="621360"/>
          </a:xfrm>
          <a:prstGeom prst="rect">
            <a:avLst/>
          </a:prstGeom>
          <a:solidFill>
            <a:srgbClr val="162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1" name="TextBox 18"/>
          <p:cNvSpPr/>
          <p:nvPr/>
        </p:nvSpPr>
        <p:spPr>
          <a:xfrm>
            <a:off x="6153840" y="2048400"/>
            <a:ext cx="317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任务</a:t>
            </a:r>
            <a:r>
              <a:rPr lang="en-US" sz="11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/</a:t>
            </a:r>
            <a:r>
              <a:rPr lang="zh-CN" sz="11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数据</a:t>
            </a:r>
            <a:r>
              <a:rPr lang="en-US" sz="11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/</a:t>
            </a:r>
            <a:r>
              <a:rPr lang="zh-CN" sz="11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像素掩码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Rectangle 19"/>
          <p:cNvSpPr/>
          <p:nvPr/>
        </p:nvSpPr>
        <p:spPr>
          <a:xfrm>
            <a:off x="9555480" y="1901880"/>
            <a:ext cx="1371240" cy="621360"/>
          </a:xfrm>
          <a:prstGeom prst="rect">
            <a:avLst/>
          </a:prstGeom>
          <a:solidFill>
            <a:srgbClr val="162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3" name="TextBox 20"/>
          <p:cNvSpPr/>
          <p:nvPr/>
        </p:nvSpPr>
        <p:spPr>
          <a:xfrm>
            <a:off x="9628560" y="2048400"/>
            <a:ext cx="1225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最高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Rectangle 21"/>
          <p:cNvSpPr/>
          <p:nvPr/>
        </p:nvSpPr>
        <p:spPr>
          <a:xfrm>
            <a:off x="640080" y="2560320"/>
            <a:ext cx="2194200" cy="621360"/>
          </a:xfrm>
          <a:prstGeom prst="rect">
            <a:avLst/>
          </a:prstGeom>
          <a:solidFill>
            <a:srgbClr val="101B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5" name="TextBox 22"/>
          <p:cNvSpPr/>
          <p:nvPr/>
        </p:nvSpPr>
        <p:spPr>
          <a:xfrm>
            <a:off x="713160" y="2706480"/>
            <a:ext cx="2048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统一异常理解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Rectangle 23"/>
          <p:cNvSpPr/>
          <p:nvPr/>
        </p:nvSpPr>
        <p:spPr>
          <a:xfrm>
            <a:off x="2999160" y="2560320"/>
            <a:ext cx="2925720" cy="621360"/>
          </a:xfrm>
          <a:prstGeom prst="rect">
            <a:avLst/>
          </a:prstGeom>
          <a:solidFill>
            <a:srgbClr val="101B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7" name="TextBox 24"/>
          <p:cNvSpPr/>
          <p:nvPr/>
        </p:nvSpPr>
        <p:spPr>
          <a:xfrm>
            <a:off x="3072240" y="2706480"/>
            <a:ext cx="277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GenAU · AD-Copilot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Rectangle 25"/>
          <p:cNvSpPr/>
          <p:nvPr/>
        </p:nvSpPr>
        <p:spPr>
          <a:xfrm>
            <a:off x="6080760" y="2560320"/>
            <a:ext cx="3318840" cy="621360"/>
          </a:xfrm>
          <a:prstGeom prst="rect">
            <a:avLst/>
          </a:prstGeom>
          <a:solidFill>
            <a:srgbClr val="101B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9" name="TextBox 26"/>
          <p:cNvSpPr/>
          <p:nvPr/>
        </p:nvSpPr>
        <p:spPr>
          <a:xfrm>
            <a:off x="6153840" y="2706480"/>
            <a:ext cx="317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解释能力 </a:t>
            </a:r>
            <a:r>
              <a:rPr lang="en-US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vs </a:t>
            </a:r>
            <a:r>
              <a:rPr lang="zh-CN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分割精度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Rectangle 27"/>
          <p:cNvSpPr/>
          <p:nvPr/>
        </p:nvSpPr>
        <p:spPr>
          <a:xfrm>
            <a:off x="9555480" y="2560320"/>
            <a:ext cx="1371240" cy="621360"/>
          </a:xfrm>
          <a:prstGeom prst="rect">
            <a:avLst/>
          </a:prstGeom>
          <a:solidFill>
            <a:srgbClr val="101B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1" name="TextBox 28"/>
          <p:cNvSpPr/>
          <p:nvPr/>
        </p:nvSpPr>
        <p:spPr>
          <a:xfrm>
            <a:off x="9628560" y="2706480"/>
            <a:ext cx="1225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高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Rectangle 29"/>
          <p:cNvSpPr/>
          <p:nvPr/>
        </p:nvSpPr>
        <p:spPr>
          <a:xfrm>
            <a:off x="640080" y="3218760"/>
            <a:ext cx="2194200" cy="621360"/>
          </a:xfrm>
          <a:prstGeom prst="rect">
            <a:avLst/>
          </a:prstGeom>
          <a:solidFill>
            <a:srgbClr val="162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3" name="TextBox 30"/>
          <p:cNvSpPr/>
          <p:nvPr/>
        </p:nvSpPr>
        <p:spPr>
          <a:xfrm>
            <a:off x="713160" y="3364920"/>
            <a:ext cx="2048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复杂表达评测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Rectangle 31"/>
          <p:cNvSpPr/>
          <p:nvPr/>
        </p:nvSpPr>
        <p:spPr>
          <a:xfrm>
            <a:off x="2999160" y="3218760"/>
            <a:ext cx="2925720" cy="621360"/>
          </a:xfrm>
          <a:prstGeom prst="rect">
            <a:avLst/>
          </a:prstGeom>
          <a:solidFill>
            <a:srgbClr val="162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5" name="TextBox 32"/>
          <p:cNvSpPr/>
          <p:nvPr/>
        </p:nvSpPr>
        <p:spPr>
          <a:xfrm>
            <a:off x="3072240" y="3364920"/>
            <a:ext cx="277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Ref-Adv · KnowDR-REC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Rectangle 33"/>
          <p:cNvSpPr/>
          <p:nvPr/>
        </p:nvSpPr>
        <p:spPr>
          <a:xfrm>
            <a:off x="6080760" y="3218760"/>
            <a:ext cx="3318840" cy="621360"/>
          </a:xfrm>
          <a:prstGeom prst="rect">
            <a:avLst/>
          </a:prstGeom>
          <a:solidFill>
            <a:srgbClr val="162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7" name="TextBox 34"/>
          <p:cNvSpPr/>
          <p:nvPr/>
        </p:nvSpPr>
        <p:spPr>
          <a:xfrm>
            <a:off x="6153840" y="3364920"/>
            <a:ext cx="317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否定、关系、负样本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Rectangle 35"/>
          <p:cNvSpPr/>
          <p:nvPr/>
        </p:nvSpPr>
        <p:spPr>
          <a:xfrm>
            <a:off x="9555480" y="3218760"/>
            <a:ext cx="1371240" cy="621360"/>
          </a:xfrm>
          <a:prstGeom prst="rect">
            <a:avLst/>
          </a:prstGeom>
          <a:solidFill>
            <a:srgbClr val="162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9" name="TextBox 36"/>
          <p:cNvSpPr/>
          <p:nvPr/>
        </p:nvSpPr>
        <p:spPr>
          <a:xfrm>
            <a:off x="9628560" y="3364920"/>
            <a:ext cx="1225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高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Rectangle 37"/>
          <p:cNvSpPr/>
          <p:nvPr/>
        </p:nvSpPr>
        <p:spPr>
          <a:xfrm>
            <a:off x="640080" y="3877200"/>
            <a:ext cx="2194200" cy="621360"/>
          </a:xfrm>
          <a:prstGeom prst="rect">
            <a:avLst/>
          </a:prstGeom>
          <a:solidFill>
            <a:srgbClr val="101B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1" name="TextBox 38"/>
          <p:cNvSpPr/>
          <p:nvPr/>
        </p:nvSpPr>
        <p:spPr>
          <a:xfrm>
            <a:off x="713160" y="4023360"/>
            <a:ext cx="2048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提示学习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Rectangle 39"/>
          <p:cNvSpPr/>
          <p:nvPr/>
        </p:nvSpPr>
        <p:spPr>
          <a:xfrm>
            <a:off x="2999160" y="3877200"/>
            <a:ext cx="2925720" cy="621360"/>
          </a:xfrm>
          <a:prstGeom prst="rect">
            <a:avLst/>
          </a:prstGeom>
          <a:solidFill>
            <a:srgbClr val="101B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3" name="TextBox 40"/>
          <p:cNvSpPr/>
          <p:nvPr/>
        </p:nvSpPr>
        <p:spPr>
          <a:xfrm>
            <a:off x="3072240" y="4023360"/>
            <a:ext cx="277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AnoPLe · MoECLIP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Rectangle 41"/>
          <p:cNvSpPr/>
          <p:nvPr/>
        </p:nvSpPr>
        <p:spPr>
          <a:xfrm>
            <a:off x="6080760" y="3877200"/>
            <a:ext cx="3318840" cy="621360"/>
          </a:xfrm>
          <a:prstGeom prst="rect">
            <a:avLst/>
          </a:prstGeom>
          <a:solidFill>
            <a:srgbClr val="101B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5" name="TextBox 42"/>
          <p:cNvSpPr/>
          <p:nvPr/>
        </p:nvSpPr>
        <p:spPr>
          <a:xfrm>
            <a:off x="6153840" y="4023360"/>
            <a:ext cx="317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少</a:t>
            </a:r>
            <a:r>
              <a:rPr lang="en-US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/</a:t>
            </a:r>
            <a:r>
              <a:rPr lang="zh-CN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零样本、多类别泛化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Rectangle 43"/>
          <p:cNvSpPr/>
          <p:nvPr/>
        </p:nvSpPr>
        <p:spPr>
          <a:xfrm>
            <a:off x="9555480" y="3877200"/>
            <a:ext cx="1371240" cy="621360"/>
          </a:xfrm>
          <a:prstGeom prst="rect">
            <a:avLst/>
          </a:prstGeom>
          <a:solidFill>
            <a:srgbClr val="101B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7" name="TextBox 44"/>
          <p:cNvSpPr/>
          <p:nvPr/>
        </p:nvSpPr>
        <p:spPr>
          <a:xfrm>
            <a:off x="9628560" y="4023360"/>
            <a:ext cx="1225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中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Rectangle 45"/>
          <p:cNvSpPr/>
          <p:nvPr/>
        </p:nvSpPr>
        <p:spPr>
          <a:xfrm>
            <a:off x="640080" y="4535280"/>
            <a:ext cx="2194200" cy="621360"/>
          </a:xfrm>
          <a:prstGeom prst="rect">
            <a:avLst/>
          </a:prstGeom>
          <a:solidFill>
            <a:srgbClr val="162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9" name="TextBox 46"/>
          <p:cNvSpPr/>
          <p:nvPr/>
        </p:nvSpPr>
        <p:spPr>
          <a:xfrm>
            <a:off x="713160" y="4681800"/>
            <a:ext cx="2048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轻量跨模态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Rectangle 47"/>
          <p:cNvSpPr/>
          <p:nvPr/>
        </p:nvSpPr>
        <p:spPr>
          <a:xfrm>
            <a:off x="2999160" y="4535280"/>
            <a:ext cx="2925720" cy="621360"/>
          </a:xfrm>
          <a:prstGeom prst="rect">
            <a:avLst/>
          </a:prstGeom>
          <a:solidFill>
            <a:srgbClr val="162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1" name="TextBox 48"/>
          <p:cNvSpPr/>
          <p:nvPr/>
        </p:nvSpPr>
        <p:spPr>
          <a:xfrm>
            <a:off x="3072240" y="4681800"/>
            <a:ext cx="277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PALADIN · RADSeg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Rectangle 49"/>
          <p:cNvSpPr/>
          <p:nvPr/>
        </p:nvSpPr>
        <p:spPr>
          <a:xfrm>
            <a:off x="6080760" y="4535280"/>
            <a:ext cx="3318840" cy="621360"/>
          </a:xfrm>
          <a:prstGeom prst="rect">
            <a:avLst/>
          </a:prstGeom>
          <a:solidFill>
            <a:srgbClr val="162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3" name="TextBox 50"/>
          <p:cNvSpPr/>
          <p:nvPr/>
        </p:nvSpPr>
        <p:spPr>
          <a:xfrm>
            <a:off x="6153840" y="4681800"/>
            <a:ext cx="317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冻结主干与效率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Rectangle 51"/>
          <p:cNvSpPr/>
          <p:nvPr/>
        </p:nvSpPr>
        <p:spPr>
          <a:xfrm>
            <a:off x="9555480" y="4535280"/>
            <a:ext cx="1371240" cy="621360"/>
          </a:xfrm>
          <a:prstGeom prst="rect">
            <a:avLst/>
          </a:prstGeom>
          <a:solidFill>
            <a:srgbClr val="1624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5" name="TextBox 52"/>
          <p:cNvSpPr/>
          <p:nvPr/>
        </p:nvSpPr>
        <p:spPr>
          <a:xfrm>
            <a:off x="9628560" y="4681800"/>
            <a:ext cx="1225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中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Rectangle 53"/>
          <p:cNvSpPr/>
          <p:nvPr/>
        </p:nvSpPr>
        <p:spPr>
          <a:xfrm>
            <a:off x="640080" y="5193720"/>
            <a:ext cx="2194200" cy="621360"/>
          </a:xfrm>
          <a:prstGeom prst="rect">
            <a:avLst/>
          </a:prstGeom>
          <a:solidFill>
            <a:srgbClr val="101B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7" name="TextBox 54"/>
          <p:cNvSpPr/>
          <p:nvPr/>
        </p:nvSpPr>
        <p:spPr>
          <a:xfrm>
            <a:off x="713160" y="5340240"/>
            <a:ext cx="2048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真实场景扩展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Rectangle 55"/>
          <p:cNvSpPr/>
          <p:nvPr/>
        </p:nvSpPr>
        <p:spPr>
          <a:xfrm>
            <a:off x="2999160" y="5193720"/>
            <a:ext cx="2925720" cy="621360"/>
          </a:xfrm>
          <a:prstGeom prst="rect">
            <a:avLst/>
          </a:prstGeom>
          <a:solidFill>
            <a:srgbClr val="101B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9" name="TextBox 56"/>
          <p:cNvSpPr/>
          <p:nvPr/>
        </p:nvSpPr>
        <p:spPr>
          <a:xfrm>
            <a:off x="3072240" y="5340240"/>
            <a:ext cx="2779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Real-IAD Variety · MMVIAD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Rectangle 57"/>
          <p:cNvSpPr/>
          <p:nvPr/>
        </p:nvSpPr>
        <p:spPr>
          <a:xfrm>
            <a:off x="6080760" y="5193720"/>
            <a:ext cx="3318840" cy="621360"/>
          </a:xfrm>
          <a:prstGeom prst="rect">
            <a:avLst/>
          </a:prstGeom>
          <a:solidFill>
            <a:srgbClr val="101B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1" name="TextBox 58"/>
          <p:cNvSpPr/>
          <p:nvPr/>
        </p:nvSpPr>
        <p:spPr>
          <a:xfrm>
            <a:off x="6153840" y="5340240"/>
            <a:ext cx="317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跨行业、多视角</a:t>
            </a:r>
            <a:r>
              <a:rPr lang="en-US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/</a:t>
            </a:r>
            <a:r>
              <a:rPr lang="zh-CN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视频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Rectangle 59"/>
          <p:cNvSpPr/>
          <p:nvPr/>
        </p:nvSpPr>
        <p:spPr>
          <a:xfrm>
            <a:off x="9555480" y="5193720"/>
            <a:ext cx="1371240" cy="621360"/>
          </a:xfrm>
          <a:prstGeom prst="rect">
            <a:avLst/>
          </a:prstGeom>
          <a:solidFill>
            <a:srgbClr val="101B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3" name="TextBox 60"/>
          <p:cNvSpPr/>
          <p:nvPr/>
        </p:nvSpPr>
        <p:spPr>
          <a:xfrm>
            <a:off x="9628560" y="5340240"/>
            <a:ext cx="1225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1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中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Rounded Rectangle 61"/>
          <p:cNvSpPr/>
          <p:nvPr/>
        </p:nvSpPr>
        <p:spPr>
          <a:xfrm>
            <a:off x="640080" y="5989320"/>
            <a:ext cx="10743840" cy="438480"/>
          </a:xfrm>
          <a:prstGeom prst="roundRect">
            <a:avLst>
              <a:gd name="adj" fmla="val 16667"/>
            </a:avLst>
          </a:prstGeom>
          <a:solidFill>
            <a:srgbClr val="101B2D"/>
          </a:solidFill>
          <a:ln w="12700">
            <a:solidFill>
              <a:srgbClr val="FF9A5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5" name="TextBox 62"/>
          <p:cNvSpPr/>
          <p:nvPr/>
        </p:nvSpPr>
        <p:spPr>
          <a:xfrm>
            <a:off x="859680" y="6117480"/>
            <a:ext cx="102866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zh-CN" sz="10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注：除 </a:t>
            </a:r>
            <a:r>
              <a:rPr lang="en-US" sz="10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RIAS </a:t>
            </a:r>
            <a:r>
              <a:rPr lang="zh-CN" sz="10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外，本表来源于用户提供的检索对话；正式引用与复现前应核验论文版本、开放状态和代码。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Box 63"/>
          <p:cNvSpPr/>
          <p:nvPr/>
        </p:nvSpPr>
        <p:spPr>
          <a:xfrm>
            <a:off x="502920" y="6546960"/>
            <a:ext cx="10698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检索材料截止 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2026-10-16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Box 64"/>
          <p:cNvSpPr/>
          <p:nvPr/>
        </p:nvSpPr>
        <p:spPr>
          <a:xfrm>
            <a:off x="10927080" y="6519600"/>
            <a:ext cx="749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r" defTabSz="457200">
              <a:lnSpc>
                <a:spcPct val="108000"/>
              </a:lnSpc>
            </a:pPr>
            <a:r>
              <a:rPr lang="en-US" sz="8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BACKUP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TextBox 1"/>
          <p:cNvSpPr/>
          <p:nvPr/>
        </p:nvSpPr>
        <p:spPr>
          <a:xfrm>
            <a:off x="502920" y="25596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25C2D9"/>
                </a:solidFill>
                <a:effectLst/>
                <a:uFillTx/>
                <a:latin typeface="Noto Sans CJK SC"/>
              </a:rPr>
              <a:t>BACKUP · QUANTITATIVE DETAILS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Box 2"/>
          <p:cNvSpPr/>
          <p:nvPr/>
        </p:nvSpPr>
        <p:spPr>
          <a:xfrm>
            <a:off x="502920" y="530280"/>
            <a:ext cx="1069812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消融与传统 </a:t>
            </a:r>
            <a:r>
              <a:rPr lang="en-US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IAD </a:t>
            </a:r>
            <a:r>
              <a:rPr lang="zh-CN" sz="26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对比：两个容易忽略的细节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Box 3"/>
          <p:cNvSpPr/>
          <p:nvPr/>
        </p:nvSpPr>
        <p:spPr>
          <a:xfrm>
            <a:off x="11201400" y="320040"/>
            <a:ext cx="456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r" defTabSz="457200">
              <a:lnSpc>
                <a:spcPct val="108000"/>
              </a:lnSpc>
            </a:pPr>
            <a:r>
              <a:rPr lang="en-US" sz="1000" b="1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16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481" name="Connector 4"/>
          <p:cNvCxnSpPr/>
          <p:nvPr/>
        </p:nvCxnSpPr>
        <p:spPr>
          <a:xfrm>
            <a:off x="502920" y="1115280"/>
            <a:ext cx="11183400" cy="360"/>
          </a:xfrm>
          <a:prstGeom prst="straightConnector1">
            <a:avLst/>
          </a:prstGeom>
          <a:ln w="12700">
            <a:solidFill>
              <a:srgbClr val="2C405F"/>
            </a:solidFill>
            <a:round/>
          </a:ln>
        </p:spPr>
      </p:cxnSp>
      <p:sp>
        <p:nvSpPr>
          <p:cNvPr id="482" name="Rounded Rectangle 5"/>
          <p:cNvSpPr/>
          <p:nvPr/>
        </p:nvSpPr>
        <p:spPr>
          <a:xfrm>
            <a:off x="621720" y="1389960"/>
            <a:ext cx="5623200" cy="3337200"/>
          </a:xfrm>
          <a:prstGeom prst="roundRect">
            <a:avLst>
              <a:gd name="adj" fmla="val 16667"/>
            </a:avLst>
          </a:prstGeom>
          <a:solidFill>
            <a:srgbClr val="101B2D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83" name="Picture 6" descr="ablation.png"/>
          <p:cNvPicPr/>
          <p:nvPr/>
        </p:nvPicPr>
        <p:blipFill>
          <a:blip r:embed="rId1"/>
          <a:stretch/>
        </p:blipFill>
        <p:spPr>
          <a:xfrm>
            <a:off x="658440" y="1820520"/>
            <a:ext cx="5550120" cy="247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4" name="Rounded Rectangle 7"/>
          <p:cNvSpPr/>
          <p:nvPr/>
        </p:nvSpPr>
        <p:spPr>
          <a:xfrm>
            <a:off x="6492240" y="1389960"/>
            <a:ext cx="5101920" cy="3337200"/>
          </a:xfrm>
          <a:prstGeom prst="roundRect">
            <a:avLst>
              <a:gd name="adj" fmla="val 16667"/>
            </a:avLst>
          </a:prstGeom>
          <a:solidFill>
            <a:srgbClr val="16243A"/>
          </a:solidFill>
          <a:ln w="12700">
            <a:solidFill>
              <a:srgbClr val="2C40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5" name="TextBox 8"/>
          <p:cNvSpPr/>
          <p:nvPr/>
        </p:nvSpPr>
        <p:spPr>
          <a:xfrm>
            <a:off x="6784920" y="1682640"/>
            <a:ext cx="2925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传统 </a:t>
            </a:r>
            <a:r>
              <a:rPr lang="en-US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IAD </a:t>
            </a:r>
            <a:r>
              <a:rPr lang="zh-CN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对比（</a:t>
            </a:r>
            <a:r>
              <a:rPr lang="en-US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Test</a:t>
            </a:r>
            <a:r>
              <a:rPr lang="zh-CN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）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Rectangle 9"/>
          <p:cNvSpPr/>
          <p:nvPr/>
        </p:nvSpPr>
        <p:spPr>
          <a:xfrm>
            <a:off x="6766560" y="2212920"/>
            <a:ext cx="1508400" cy="402120"/>
          </a:xfrm>
          <a:prstGeom prst="rect">
            <a:avLst/>
          </a:prstGeom>
          <a:solidFill>
            <a:srgbClr val="25C2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7" name="TextBox 10"/>
          <p:cNvSpPr/>
          <p:nvPr/>
        </p:nvSpPr>
        <p:spPr>
          <a:xfrm>
            <a:off x="6766560" y="2322720"/>
            <a:ext cx="15084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zh-CN" sz="9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方法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Rectangle 11"/>
          <p:cNvSpPr/>
          <p:nvPr/>
        </p:nvSpPr>
        <p:spPr>
          <a:xfrm>
            <a:off x="8275320" y="2212920"/>
            <a:ext cx="1325520" cy="402120"/>
          </a:xfrm>
          <a:prstGeom prst="rect">
            <a:avLst/>
          </a:prstGeom>
          <a:solidFill>
            <a:srgbClr val="25C2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9" name="TextBox 12"/>
          <p:cNvSpPr/>
          <p:nvPr/>
        </p:nvSpPr>
        <p:spPr>
          <a:xfrm>
            <a:off x="8275320" y="2322720"/>
            <a:ext cx="1325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9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Image-AUC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Rectangle 13"/>
          <p:cNvSpPr/>
          <p:nvPr/>
        </p:nvSpPr>
        <p:spPr>
          <a:xfrm>
            <a:off x="9601200" y="2212920"/>
            <a:ext cx="1325520" cy="402120"/>
          </a:xfrm>
          <a:prstGeom prst="rect">
            <a:avLst/>
          </a:prstGeom>
          <a:solidFill>
            <a:srgbClr val="25C2D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1" name="TextBox 14"/>
          <p:cNvSpPr/>
          <p:nvPr/>
        </p:nvSpPr>
        <p:spPr>
          <a:xfrm>
            <a:off x="9601200" y="2322720"/>
            <a:ext cx="13255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900" b="1" u="none" strike="noStrike">
                <a:solidFill>
                  <a:srgbClr val="0B1220"/>
                </a:solidFill>
                <a:effectLst/>
                <a:uFillTx/>
                <a:latin typeface="Noto Sans CJK SC"/>
              </a:rPr>
              <a:t>Pixel-AUC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Rectangle 15"/>
          <p:cNvSpPr/>
          <p:nvPr/>
        </p:nvSpPr>
        <p:spPr>
          <a:xfrm>
            <a:off x="6766560" y="2633400"/>
            <a:ext cx="1508400" cy="392760"/>
          </a:xfrm>
          <a:prstGeom prst="rect">
            <a:avLst/>
          </a:prstGeom>
          <a:solidFill>
            <a:srgbClr val="101B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3" name="TextBox 16"/>
          <p:cNvSpPr/>
          <p:nvPr/>
        </p:nvSpPr>
        <p:spPr>
          <a:xfrm>
            <a:off x="6766560" y="2734200"/>
            <a:ext cx="1508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9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JNLD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Rectangle 17"/>
          <p:cNvSpPr/>
          <p:nvPr/>
        </p:nvSpPr>
        <p:spPr>
          <a:xfrm>
            <a:off x="8275320" y="2633400"/>
            <a:ext cx="1325520" cy="392760"/>
          </a:xfrm>
          <a:prstGeom prst="rect">
            <a:avLst/>
          </a:prstGeom>
          <a:solidFill>
            <a:srgbClr val="101B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5" name="TextBox 18"/>
          <p:cNvSpPr/>
          <p:nvPr/>
        </p:nvSpPr>
        <p:spPr>
          <a:xfrm>
            <a:off x="8275320" y="2734200"/>
            <a:ext cx="1325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9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91.30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Rectangle 19"/>
          <p:cNvSpPr/>
          <p:nvPr/>
        </p:nvSpPr>
        <p:spPr>
          <a:xfrm>
            <a:off x="9601200" y="2633400"/>
            <a:ext cx="1325520" cy="392760"/>
          </a:xfrm>
          <a:prstGeom prst="rect">
            <a:avLst/>
          </a:prstGeom>
          <a:solidFill>
            <a:srgbClr val="101B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7" name="TextBox 20"/>
          <p:cNvSpPr/>
          <p:nvPr/>
        </p:nvSpPr>
        <p:spPr>
          <a:xfrm>
            <a:off x="9601200" y="2734200"/>
            <a:ext cx="1325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9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88.60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Rectangle 21"/>
          <p:cNvSpPr/>
          <p:nvPr/>
        </p:nvSpPr>
        <p:spPr>
          <a:xfrm>
            <a:off x="6766560" y="3054240"/>
            <a:ext cx="1508400" cy="392760"/>
          </a:xfrm>
          <a:prstGeom prst="rect">
            <a:avLst/>
          </a:prstGeom>
          <a:solidFill>
            <a:srgbClr val="1C2D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9" name="TextBox 22"/>
          <p:cNvSpPr/>
          <p:nvPr/>
        </p:nvSpPr>
        <p:spPr>
          <a:xfrm>
            <a:off x="6766560" y="3154680"/>
            <a:ext cx="1508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9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DRAEM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Rectangle 23"/>
          <p:cNvSpPr/>
          <p:nvPr/>
        </p:nvSpPr>
        <p:spPr>
          <a:xfrm>
            <a:off x="8275320" y="3054240"/>
            <a:ext cx="1325520" cy="392760"/>
          </a:xfrm>
          <a:prstGeom prst="rect">
            <a:avLst/>
          </a:prstGeom>
          <a:solidFill>
            <a:srgbClr val="1C2D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1" name="TextBox 24"/>
          <p:cNvSpPr/>
          <p:nvPr/>
        </p:nvSpPr>
        <p:spPr>
          <a:xfrm>
            <a:off x="8275320" y="3154680"/>
            <a:ext cx="1325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9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89.76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Rectangle 25"/>
          <p:cNvSpPr/>
          <p:nvPr/>
        </p:nvSpPr>
        <p:spPr>
          <a:xfrm>
            <a:off x="9601200" y="3054240"/>
            <a:ext cx="1325520" cy="392760"/>
          </a:xfrm>
          <a:prstGeom prst="rect">
            <a:avLst/>
          </a:prstGeom>
          <a:solidFill>
            <a:srgbClr val="1C2D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3" name="TextBox 26"/>
          <p:cNvSpPr/>
          <p:nvPr/>
        </p:nvSpPr>
        <p:spPr>
          <a:xfrm>
            <a:off x="9601200" y="3154680"/>
            <a:ext cx="1325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9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88.24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Rectangle 27"/>
          <p:cNvSpPr/>
          <p:nvPr/>
        </p:nvSpPr>
        <p:spPr>
          <a:xfrm>
            <a:off x="6766560" y="3474720"/>
            <a:ext cx="1508400" cy="392760"/>
          </a:xfrm>
          <a:prstGeom prst="rect">
            <a:avLst/>
          </a:prstGeom>
          <a:solidFill>
            <a:srgbClr val="101B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5" name="TextBox 28"/>
          <p:cNvSpPr/>
          <p:nvPr/>
        </p:nvSpPr>
        <p:spPr>
          <a:xfrm>
            <a:off x="6766560" y="3575160"/>
            <a:ext cx="1508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9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UniAD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Rectangle 29"/>
          <p:cNvSpPr/>
          <p:nvPr/>
        </p:nvSpPr>
        <p:spPr>
          <a:xfrm>
            <a:off x="8275320" y="3474720"/>
            <a:ext cx="1325520" cy="392760"/>
          </a:xfrm>
          <a:prstGeom prst="rect">
            <a:avLst/>
          </a:prstGeom>
          <a:solidFill>
            <a:srgbClr val="101B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7" name="TextBox 30"/>
          <p:cNvSpPr/>
          <p:nvPr/>
        </p:nvSpPr>
        <p:spPr>
          <a:xfrm>
            <a:off x="8275320" y="3575160"/>
            <a:ext cx="1325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9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96.57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Rectangle 31"/>
          <p:cNvSpPr/>
          <p:nvPr/>
        </p:nvSpPr>
        <p:spPr>
          <a:xfrm>
            <a:off x="9601200" y="3474720"/>
            <a:ext cx="1325520" cy="392760"/>
          </a:xfrm>
          <a:prstGeom prst="rect">
            <a:avLst/>
          </a:prstGeom>
          <a:solidFill>
            <a:srgbClr val="101B2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9" name="TextBox 32"/>
          <p:cNvSpPr/>
          <p:nvPr/>
        </p:nvSpPr>
        <p:spPr>
          <a:xfrm>
            <a:off x="9601200" y="3575160"/>
            <a:ext cx="1325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900" b="0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96.90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Rectangle 33"/>
          <p:cNvSpPr/>
          <p:nvPr/>
        </p:nvSpPr>
        <p:spPr>
          <a:xfrm>
            <a:off x="6766560" y="3895200"/>
            <a:ext cx="1508400" cy="392760"/>
          </a:xfrm>
          <a:prstGeom prst="rect">
            <a:avLst/>
          </a:prstGeom>
          <a:solidFill>
            <a:srgbClr val="1C2D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1" name="TextBox 34"/>
          <p:cNvSpPr/>
          <p:nvPr/>
        </p:nvSpPr>
        <p:spPr>
          <a:xfrm>
            <a:off x="6766560" y="3996000"/>
            <a:ext cx="150840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9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DQFormer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2" name="Rectangle 35"/>
          <p:cNvSpPr/>
          <p:nvPr/>
        </p:nvSpPr>
        <p:spPr>
          <a:xfrm>
            <a:off x="8275320" y="3895200"/>
            <a:ext cx="1325520" cy="392760"/>
          </a:xfrm>
          <a:prstGeom prst="rect">
            <a:avLst/>
          </a:prstGeom>
          <a:solidFill>
            <a:srgbClr val="1C2D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3" name="TextBox 36"/>
          <p:cNvSpPr/>
          <p:nvPr/>
        </p:nvSpPr>
        <p:spPr>
          <a:xfrm>
            <a:off x="8275320" y="3996000"/>
            <a:ext cx="1325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9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97.36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Rectangle 37"/>
          <p:cNvSpPr/>
          <p:nvPr/>
        </p:nvSpPr>
        <p:spPr>
          <a:xfrm>
            <a:off x="9601200" y="3895200"/>
            <a:ext cx="1325520" cy="392760"/>
          </a:xfrm>
          <a:prstGeom prst="rect">
            <a:avLst/>
          </a:prstGeom>
          <a:solidFill>
            <a:srgbClr val="1C2D4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5" name="TextBox 38"/>
          <p:cNvSpPr/>
          <p:nvPr/>
        </p:nvSpPr>
        <p:spPr>
          <a:xfrm>
            <a:off x="9601200" y="3996000"/>
            <a:ext cx="132552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ctr" defTabSz="457200">
              <a:lnSpc>
                <a:spcPct val="108000"/>
              </a:lnSpc>
            </a:pPr>
            <a:r>
              <a:rPr lang="en-US" sz="9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93.13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Rounded Rectangle 39"/>
          <p:cNvSpPr/>
          <p:nvPr/>
        </p:nvSpPr>
        <p:spPr>
          <a:xfrm>
            <a:off x="621720" y="5047560"/>
            <a:ext cx="10972440" cy="831600"/>
          </a:xfrm>
          <a:prstGeom prst="roundRect">
            <a:avLst>
              <a:gd name="adj" fmla="val 16667"/>
            </a:avLst>
          </a:prstGeom>
          <a:solidFill>
            <a:srgbClr val="101B2D"/>
          </a:solidFill>
          <a:ln w="12700">
            <a:solidFill>
              <a:srgbClr val="FF9A5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7" name="TextBox 40"/>
          <p:cNvSpPr/>
          <p:nvPr/>
        </p:nvSpPr>
        <p:spPr>
          <a:xfrm>
            <a:off x="877680" y="5303520"/>
            <a:ext cx="65808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12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解读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Box 41"/>
          <p:cNvSpPr/>
          <p:nvPr/>
        </p:nvSpPr>
        <p:spPr>
          <a:xfrm>
            <a:off x="1572840" y="5212080"/>
            <a:ext cx="92808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en-US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LMA </a:t>
            </a:r>
            <a:r>
              <a:rPr lang="zh-CN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带来最大 </a:t>
            </a:r>
            <a:r>
              <a:rPr lang="en-US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mIoU </a:t>
            </a:r>
            <a:r>
              <a:rPr lang="zh-CN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增益；</a:t>
            </a:r>
            <a:r>
              <a:rPr lang="en-US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DQFormer </a:t>
            </a:r>
            <a:r>
              <a:rPr lang="zh-CN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图像级最好，但像素 </a:t>
            </a:r>
            <a:r>
              <a:rPr lang="en-US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AUC </a:t>
            </a:r>
            <a:r>
              <a:rPr lang="zh-CN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仍落后 </a:t>
            </a:r>
            <a:r>
              <a:rPr lang="en-US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UniAD 3.77 </a:t>
            </a:r>
            <a:r>
              <a:rPr lang="zh-CN" sz="1500" b="1" u="none" strike="noStrike">
                <a:solidFill>
                  <a:srgbClr val="F7FAFC"/>
                </a:solidFill>
                <a:effectLst/>
                <a:uFillTx/>
                <a:latin typeface="Noto Sans CJK SC"/>
              </a:rPr>
              <a:t>点。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Box 42"/>
          <p:cNvSpPr/>
          <p:nvPr/>
        </p:nvSpPr>
        <p:spPr>
          <a:xfrm>
            <a:off x="502920" y="6546960"/>
            <a:ext cx="10698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defTabSz="457200">
              <a:lnSpc>
                <a:spcPct val="108000"/>
              </a:lnSpc>
            </a:pP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来源：</a:t>
            </a:r>
            <a:r>
              <a:rPr lang="en-US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RIAS Tables 2–3</a:t>
            </a:r>
            <a:r>
              <a:rPr lang="zh-CN" sz="800" b="0" u="none" strike="noStrike">
                <a:solidFill>
                  <a:srgbClr val="AAB7C7"/>
                </a:solidFill>
                <a:effectLst/>
                <a:uFillTx/>
                <a:latin typeface="Noto Sans CJK SC"/>
              </a:rPr>
              <a:t>；消融顺序按论文表格重绘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Box 43"/>
          <p:cNvSpPr/>
          <p:nvPr/>
        </p:nvSpPr>
        <p:spPr>
          <a:xfrm>
            <a:off x="10927080" y="6519600"/>
            <a:ext cx="7495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720" tIns="54720" rIns="54720" bIns="54720" anchor="t">
            <a:spAutoFit/>
          </a:bodyPr>
          <a:p>
            <a:pPr algn="r" defTabSz="457200">
              <a:lnSpc>
                <a:spcPct val="108000"/>
              </a:lnSpc>
            </a:pPr>
            <a:r>
              <a:rPr lang="en-US" sz="800" b="1" u="none" strike="noStrike">
                <a:solidFill>
                  <a:srgbClr val="FF9A56"/>
                </a:solidFill>
                <a:effectLst/>
                <a:uFillTx/>
                <a:latin typeface="Noto Sans CJK SC"/>
              </a:rPr>
              <a:t>BACKUP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LibreOfficeDev/26.8.0.0.alpha0$Linux_X86_64 LibreOffice_project/2c87e51eeaa2b413ff4ae097b2705eea1995d8e5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OpenAI Codex</dc:creator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>15分钟组会报告</dc:subject>
  <dc:title>从视觉语言定位到工业异常分割：2026研究趋势与RIAS精读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